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1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033" autoAdjust="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6767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5EB55-5117-6047-C4A7-2306E5AD6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EE89A1-09B5-E505-CEE9-96A4BD694A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23EF10-787D-8F7A-3902-756A2096CD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EB78F-2AE6-DD7B-7D76-D54C8C9260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9240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bin"/><Relationship Id="rId4" Type="http://schemas.openxmlformats.org/officeDocument/2006/relationships/image" Target="../media/image8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86750" y="214313"/>
            <a:ext cx="571500" cy="571500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428625" y="1165520"/>
            <a:ext cx="8286750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Caracterizando a Atividade de Code Review no GitHub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28625" y="2405630"/>
            <a:ext cx="82867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Uma Análise Aprofundada de Pull Requests em Repositórios Populares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357688" y="3131418"/>
            <a:ext cx="428625" cy="28575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2827837" y="3445743"/>
            <a:ext cx="348832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Izabela Cecilia Silva Barbosa, Lucas Machado de Oliveira Andrade</a:t>
            </a:r>
            <a:endParaRPr lang="en-US" sz="837" dirty="0"/>
          </a:p>
        </p:txBody>
      </p:sp>
      <p:sp>
        <p:nvSpPr>
          <p:cNvPr id="8" name="Text 5"/>
          <p:cNvSpPr/>
          <p:nvPr/>
        </p:nvSpPr>
        <p:spPr>
          <a:xfrm>
            <a:off x="3149975" y="3601120"/>
            <a:ext cx="284402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Mariana Eliza Alves Costa e Vitor Fernandes de Souza</a:t>
            </a:r>
            <a:endParaRPr lang="en-US" sz="837" dirty="0"/>
          </a:p>
        </p:txBody>
      </p:sp>
      <p:sp>
        <p:nvSpPr>
          <p:cNvPr id="9" name="Text 6"/>
          <p:cNvSpPr/>
          <p:nvPr/>
        </p:nvSpPr>
        <p:spPr>
          <a:xfrm>
            <a:off x="428625" y="3842221"/>
            <a:ext cx="8286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6E76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Laboratório de Experimentação de Software • Outubro 2025</a:t>
            </a:r>
            <a:endParaRPr lang="en-US" sz="73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821531"/>
            <a:ext cx="42863" cy="285750"/>
          </a:xfrm>
          <a:prstGeom prst="round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614363" y="808137"/>
            <a:ext cx="367933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Introdução e Objetivo do Estudo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28625" y="1477863"/>
            <a:ext cx="171450" cy="171450"/>
          </a:xfrm>
          <a:prstGeom prst="ellipse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428625" y="147786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📌</a:t>
            </a:r>
            <a:endParaRPr lang="en-US" sz="732" dirty="0"/>
          </a:p>
        </p:txBody>
      </p:sp>
      <p:sp>
        <p:nvSpPr>
          <p:cNvPr id="7" name="Text 4"/>
          <p:cNvSpPr/>
          <p:nvPr/>
        </p:nvSpPr>
        <p:spPr>
          <a:xfrm>
            <a:off x="707231" y="1477863"/>
            <a:ext cx="36504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Contexto</a:t>
            </a:r>
            <a:endParaRPr lang="en-US" sz="732" dirty="0"/>
          </a:p>
        </p:txBody>
      </p:sp>
      <p:sp>
        <p:nvSpPr>
          <p:cNvPr id="8" name="Text 5"/>
          <p:cNvSpPr/>
          <p:nvPr/>
        </p:nvSpPr>
        <p:spPr>
          <a:xfrm>
            <a:off x="707231" y="1663601"/>
            <a:ext cx="14250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prática de code review é </a:t>
            </a:r>
            <a:endParaRPr lang="en-US" sz="837" dirty="0"/>
          </a:p>
        </p:txBody>
      </p:sp>
      <p:sp>
        <p:nvSpPr>
          <p:cNvPr id="9" name="Text 6"/>
          <p:cNvSpPr/>
          <p:nvPr/>
        </p:nvSpPr>
        <p:spPr>
          <a:xfrm>
            <a:off x="2132326" y="1663601"/>
            <a:ext cx="72433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fundamental</a:t>
            </a:r>
            <a:endParaRPr lang="en-US" sz="837" dirty="0"/>
          </a:p>
        </p:txBody>
      </p:sp>
      <p:sp>
        <p:nvSpPr>
          <p:cNvPr id="10" name="Text 7"/>
          <p:cNvSpPr/>
          <p:nvPr/>
        </p:nvSpPr>
        <p:spPr>
          <a:xfrm>
            <a:off x="2856663" y="1663601"/>
            <a:ext cx="95556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nos processos de </a:t>
            </a:r>
            <a:endParaRPr lang="en-US" sz="837" dirty="0"/>
          </a:p>
        </p:txBody>
      </p:sp>
      <p:sp>
        <p:nvSpPr>
          <p:cNvPr id="11" name="Text 8"/>
          <p:cNvSpPr/>
          <p:nvPr/>
        </p:nvSpPr>
        <p:spPr>
          <a:xfrm>
            <a:off x="707231" y="1835051"/>
            <a:ext cx="362492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desenvolvimento ágil de software, especialmente em projetos open </a:t>
            </a:r>
            <a:endParaRPr lang="en-US" sz="837" dirty="0"/>
          </a:p>
        </p:txBody>
      </p:sp>
      <p:sp>
        <p:nvSpPr>
          <p:cNvPr id="12" name="Text 9"/>
          <p:cNvSpPr/>
          <p:nvPr/>
        </p:nvSpPr>
        <p:spPr>
          <a:xfrm>
            <a:off x="707231" y="2006501"/>
            <a:ext cx="165587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 hospedados no GitHub.</a:t>
            </a:r>
            <a:endParaRPr lang="en-US" sz="837" dirty="0"/>
          </a:p>
        </p:txBody>
      </p:sp>
      <p:sp>
        <p:nvSpPr>
          <p:cNvPr id="13" name="Shape 10"/>
          <p:cNvSpPr/>
          <p:nvPr/>
        </p:nvSpPr>
        <p:spPr>
          <a:xfrm>
            <a:off x="428625" y="2385120"/>
            <a:ext cx="171450" cy="171450"/>
          </a:xfrm>
          <a:prstGeom prst="ellipse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428625" y="238512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🎯</a:t>
            </a:r>
            <a:endParaRPr lang="en-US" sz="732" dirty="0"/>
          </a:p>
        </p:txBody>
      </p:sp>
      <p:sp>
        <p:nvSpPr>
          <p:cNvPr id="15" name="Text 12"/>
          <p:cNvSpPr/>
          <p:nvPr/>
        </p:nvSpPr>
        <p:spPr>
          <a:xfrm>
            <a:off x="707231" y="2385120"/>
            <a:ext cx="36504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Objetivo</a:t>
            </a:r>
            <a:endParaRPr lang="en-US" sz="732" dirty="0"/>
          </a:p>
        </p:txBody>
      </p:sp>
      <p:sp>
        <p:nvSpPr>
          <p:cNvPr id="16" name="Text 13"/>
          <p:cNvSpPr/>
          <p:nvPr/>
        </p:nvSpPr>
        <p:spPr>
          <a:xfrm>
            <a:off x="707231" y="2570857"/>
            <a:ext cx="210816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Analisar a atividade de code review em </a:t>
            </a:r>
            <a:endParaRPr lang="en-US" sz="837" dirty="0"/>
          </a:p>
        </p:txBody>
      </p:sp>
      <p:sp>
        <p:nvSpPr>
          <p:cNvPr id="17" name="Text 14"/>
          <p:cNvSpPr/>
          <p:nvPr/>
        </p:nvSpPr>
        <p:spPr>
          <a:xfrm>
            <a:off x="2815391" y="2570857"/>
            <a:ext cx="11379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55.040 Pull Requests</a:t>
            </a:r>
            <a:endParaRPr lang="en-US" sz="837" dirty="0"/>
          </a:p>
        </p:txBody>
      </p:sp>
      <p:sp>
        <p:nvSpPr>
          <p:cNvPr id="18" name="Text 15"/>
          <p:cNvSpPr/>
          <p:nvPr/>
        </p:nvSpPr>
        <p:spPr>
          <a:xfrm>
            <a:off x="3953368" y="2570857"/>
            <a:ext cx="1645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 </a:t>
            </a:r>
            <a:endParaRPr lang="en-US" sz="837" dirty="0"/>
          </a:p>
        </p:txBody>
      </p:sp>
      <p:sp>
        <p:nvSpPr>
          <p:cNvPr id="19" name="Text 16"/>
          <p:cNvSpPr/>
          <p:nvPr/>
        </p:nvSpPr>
        <p:spPr>
          <a:xfrm>
            <a:off x="707231" y="2742307"/>
            <a:ext cx="182104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repositórios populares do GitHub.</a:t>
            </a:r>
            <a:endParaRPr lang="en-US" sz="837" dirty="0"/>
          </a:p>
        </p:txBody>
      </p:sp>
      <p:sp>
        <p:nvSpPr>
          <p:cNvPr id="20" name="Shape 17"/>
          <p:cNvSpPr/>
          <p:nvPr/>
        </p:nvSpPr>
        <p:spPr>
          <a:xfrm>
            <a:off x="428625" y="3120926"/>
            <a:ext cx="171450" cy="171450"/>
          </a:xfrm>
          <a:prstGeom prst="ellipse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428625" y="312092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🔍</a:t>
            </a:r>
            <a:endParaRPr lang="en-US" sz="732" dirty="0"/>
          </a:p>
        </p:txBody>
      </p:sp>
      <p:sp>
        <p:nvSpPr>
          <p:cNvPr id="22" name="Text 19"/>
          <p:cNvSpPr/>
          <p:nvPr/>
        </p:nvSpPr>
        <p:spPr>
          <a:xfrm>
            <a:off x="707231" y="3120926"/>
            <a:ext cx="36504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Foco</a:t>
            </a:r>
            <a:endParaRPr lang="en-US" sz="732" dirty="0"/>
          </a:p>
        </p:txBody>
      </p:sp>
      <p:sp>
        <p:nvSpPr>
          <p:cNvPr id="23" name="Text 20"/>
          <p:cNvSpPr/>
          <p:nvPr/>
        </p:nvSpPr>
        <p:spPr>
          <a:xfrm>
            <a:off x="707231" y="3306663"/>
            <a:ext cx="5796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Identificar </a:t>
            </a:r>
            <a:endParaRPr lang="en-US" sz="837" dirty="0"/>
          </a:p>
        </p:txBody>
      </p:sp>
      <p:sp>
        <p:nvSpPr>
          <p:cNvPr id="24" name="Text 21"/>
          <p:cNvSpPr/>
          <p:nvPr/>
        </p:nvSpPr>
        <p:spPr>
          <a:xfrm>
            <a:off x="1286852" y="3306663"/>
            <a:ext cx="143025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variáveis que influenciam</a:t>
            </a:r>
            <a:endParaRPr lang="en-US" sz="837" dirty="0"/>
          </a:p>
        </p:txBody>
      </p:sp>
      <p:sp>
        <p:nvSpPr>
          <p:cNvPr id="25" name="Text 22"/>
          <p:cNvSpPr/>
          <p:nvPr/>
        </p:nvSpPr>
        <p:spPr>
          <a:xfrm>
            <a:off x="2717109" y="3306663"/>
            <a:ext cx="15194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 merge de PRs e o número </a:t>
            </a:r>
            <a:endParaRPr lang="en-US" sz="837" dirty="0"/>
          </a:p>
        </p:txBody>
      </p:sp>
      <p:sp>
        <p:nvSpPr>
          <p:cNvPr id="26" name="Text 23"/>
          <p:cNvSpPr/>
          <p:nvPr/>
        </p:nvSpPr>
        <p:spPr>
          <a:xfrm>
            <a:off x="707231" y="3478113"/>
            <a:ext cx="120210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 revisões realizadas.</a:t>
            </a:r>
            <a:endParaRPr lang="en-US" sz="837" dirty="0"/>
          </a:p>
        </p:txBody>
      </p:sp>
      <p:sp>
        <p:nvSpPr>
          <p:cNvPr id="27" name="Shape 24"/>
          <p:cNvSpPr/>
          <p:nvPr/>
        </p:nvSpPr>
        <p:spPr>
          <a:xfrm>
            <a:off x="4786313" y="1477863"/>
            <a:ext cx="3929063" cy="2857500"/>
          </a:xfrm>
          <a:prstGeom prst="rect">
            <a:avLst/>
          </a:prstGeom>
          <a:solidFill>
            <a:srgbClr val="0D1117"/>
          </a:solidFill>
          <a:ln w="198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6211630" y="2310836"/>
            <a:ext cx="1078427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55.040</a:t>
            </a:r>
            <a:endParaRPr lang="en-US" sz="2700" dirty="0"/>
          </a:p>
        </p:txBody>
      </p:sp>
      <p:sp>
        <p:nvSpPr>
          <p:cNvPr id="29" name="Text 26"/>
          <p:cNvSpPr/>
          <p:nvPr/>
        </p:nvSpPr>
        <p:spPr>
          <a:xfrm>
            <a:off x="5599556" y="2756595"/>
            <a:ext cx="2302576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Pull Requests</a:t>
            </a:r>
            <a:endParaRPr lang="en-US" sz="2700" dirty="0"/>
          </a:p>
        </p:txBody>
      </p:sp>
      <p:sp>
        <p:nvSpPr>
          <p:cNvPr id="30" name="Text 27"/>
          <p:cNvSpPr/>
          <p:nvPr/>
        </p:nvSpPr>
        <p:spPr>
          <a:xfrm>
            <a:off x="5599556" y="3355944"/>
            <a:ext cx="230257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Analisados em repositórios populares do GitHub</a:t>
            </a:r>
            <a:endParaRPr lang="en-US" sz="73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42020"/>
            <a:ext cx="42863" cy="285750"/>
          </a:xfrm>
          <a:prstGeom prst="round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578644" y="428625"/>
            <a:ext cx="464745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Metodologia: Coleta de Dados e Métricas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28625" y="1026914"/>
            <a:ext cx="2619356" cy="3687961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428625" y="1026914"/>
            <a:ext cx="28575" cy="3687961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07219" y="1205508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📊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92969" y="1234976"/>
            <a:ext cx="97238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Fonte de Dados 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728663" y="1553766"/>
            <a:ext cx="63738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Repositórios:</a:t>
            </a:r>
            <a:endParaRPr lang="en-US" sz="732" dirty="0"/>
          </a:p>
        </p:txBody>
      </p:sp>
      <p:sp>
        <p:nvSpPr>
          <p:cNvPr id="10" name="Text 7"/>
          <p:cNvSpPr/>
          <p:nvPr/>
        </p:nvSpPr>
        <p:spPr>
          <a:xfrm>
            <a:off x="1366047" y="1553766"/>
            <a:ext cx="103654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200 repositórios mais </a:t>
            </a:r>
            <a:endParaRPr lang="en-US" sz="732" dirty="0"/>
          </a:p>
        </p:txBody>
      </p:sp>
      <p:sp>
        <p:nvSpPr>
          <p:cNvPr id="11" name="Text 8"/>
          <p:cNvSpPr/>
          <p:nvPr/>
        </p:nvSpPr>
        <p:spPr>
          <a:xfrm>
            <a:off x="728663" y="1703784"/>
            <a:ext cx="97704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populares do GitHub </a:t>
            </a:r>
            <a:endParaRPr lang="en-US" sz="732" dirty="0"/>
          </a:p>
        </p:txBody>
      </p:sp>
      <p:sp>
        <p:nvSpPr>
          <p:cNvPr id="12" name="Shape 9"/>
          <p:cNvSpPr/>
          <p:nvPr/>
        </p:nvSpPr>
        <p:spPr>
          <a:xfrm>
            <a:off x="3262294" y="1026914"/>
            <a:ext cx="2619384" cy="3687961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3262294" y="1026914"/>
            <a:ext cx="28575" cy="3687961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3440888" y="1205508"/>
            <a:ext cx="123983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636308" y="1243013"/>
            <a:ext cx="123536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Critérios de Seleção 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3562331" y="1569839"/>
            <a:ext cx="84050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Repositórios com </a:t>
            </a:r>
            <a:endParaRPr lang="en-US" sz="732" dirty="0"/>
          </a:p>
        </p:txBody>
      </p:sp>
      <p:sp>
        <p:nvSpPr>
          <p:cNvPr id="17" name="Text 14"/>
          <p:cNvSpPr/>
          <p:nvPr/>
        </p:nvSpPr>
        <p:spPr>
          <a:xfrm>
            <a:off x="4402838" y="1569839"/>
            <a:ext cx="49917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≥ 100 PRs</a:t>
            </a:r>
            <a:endParaRPr lang="en-US" sz="732" dirty="0"/>
          </a:p>
        </p:txBody>
      </p:sp>
      <p:sp>
        <p:nvSpPr>
          <p:cNvPr id="18" name="Text 15"/>
          <p:cNvSpPr/>
          <p:nvPr/>
        </p:nvSpPr>
        <p:spPr>
          <a:xfrm>
            <a:off x="4902008" y="1569839"/>
            <a:ext cx="54917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(MERGED + </a:t>
            </a:r>
            <a:endParaRPr lang="en-US" sz="732" dirty="0"/>
          </a:p>
        </p:txBody>
      </p:sp>
      <p:sp>
        <p:nvSpPr>
          <p:cNvPr id="19" name="Text 16"/>
          <p:cNvSpPr/>
          <p:nvPr/>
        </p:nvSpPr>
        <p:spPr>
          <a:xfrm>
            <a:off x="3562331" y="1719858"/>
            <a:ext cx="40526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CLOSED) </a:t>
            </a:r>
            <a:endParaRPr lang="en-US" sz="732" dirty="0"/>
          </a:p>
        </p:txBody>
      </p:sp>
      <p:sp>
        <p:nvSpPr>
          <p:cNvPr id="20" name="Text 17"/>
          <p:cNvSpPr/>
          <p:nvPr/>
        </p:nvSpPr>
        <p:spPr>
          <a:xfrm>
            <a:off x="3562331" y="1941314"/>
            <a:ext cx="7366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PRs com status </a:t>
            </a:r>
            <a:endParaRPr lang="en-US" sz="732" dirty="0"/>
          </a:p>
        </p:txBody>
      </p:sp>
      <p:sp>
        <p:nvSpPr>
          <p:cNvPr id="21" name="Text 18"/>
          <p:cNvSpPr/>
          <p:nvPr/>
        </p:nvSpPr>
        <p:spPr>
          <a:xfrm>
            <a:off x="4298947" y="1941314"/>
            <a:ext cx="97294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MERGED ou CLOSED</a:t>
            </a:r>
            <a:endParaRPr lang="en-US" sz="732" dirty="0"/>
          </a:p>
        </p:txBody>
      </p:sp>
      <p:sp>
        <p:nvSpPr>
          <p:cNvPr id="22" name="Text 19"/>
          <p:cNvSpPr/>
          <p:nvPr/>
        </p:nvSpPr>
        <p:spPr>
          <a:xfrm>
            <a:off x="3562331" y="2162770"/>
            <a:ext cx="4246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PRs com </a:t>
            </a:r>
            <a:endParaRPr lang="en-US" sz="732" dirty="0"/>
          </a:p>
        </p:txBody>
      </p:sp>
      <p:sp>
        <p:nvSpPr>
          <p:cNvPr id="23" name="Text 20"/>
          <p:cNvSpPr/>
          <p:nvPr/>
        </p:nvSpPr>
        <p:spPr>
          <a:xfrm>
            <a:off x="3986994" y="2162770"/>
            <a:ext cx="55978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≥ 1 revisão</a:t>
            </a:r>
            <a:endParaRPr lang="en-US" sz="732" dirty="0"/>
          </a:p>
        </p:txBody>
      </p:sp>
      <p:sp>
        <p:nvSpPr>
          <p:cNvPr id="24" name="Text 21"/>
          <p:cNvSpPr/>
          <p:nvPr/>
        </p:nvSpPr>
        <p:spPr>
          <a:xfrm>
            <a:off x="3562331" y="2384227"/>
            <a:ext cx="71069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Tempo de vida </a:t>
            </a:r>
            <a:endParaRPr lang="en-US" sz="732" dirty="0"/>
          </a:p>
        </p:txBody>
      </p:sp>
      <p:sp>
        <p:nvSpPr>
          <p:cNvPr id="25" name="Text 22"/>
          <p:cNvSpPr/>
          <p:nvPr/>
        </p:nvSpPr>
        <p:spPr>
          <a:xfrm>
            <a:off x="4273023" y="2384227"/>
            <a:ext cx="39276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&gt; 1 hora</a:t>
            </a:r>
            <a:endParaRPr lang="en-US" sz="732" dirty="0"/>
          </a:p>
        </p:txBody>
      </p:sp>
      <p:sp>
        <p:nvSpPr>
          <p:cNvPr id="26" name="Shape 23"/>
          <p:cNvSpPr/>
          <p:nvPr/>
        </p:nvSpPr>
        <p:spPr>
          <a:xfrm>
            <a:off x="6095991" y="1026914"/>
            <a:ext cx="2619356" cy="3687961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6095991" y="1026914"/>
            <a:ext cx="28575" cy="3687961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6274584" y="1205508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📈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6560334" y="1234976"/>
            <a:ext cx="125219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Métricas Analisadas </a:t>
            </a:r>
            <a:endParaRPr lang="en-US" sz="942" dirty="0"/>
          </a:p>
        </p:txBody>
      </p:sp>
      <p:sp>
        <p:nvSpPr>
          <p:cNvPr id="30" name="Text 27"/>
          <p:cNvSpPr/>
          <p:nvPr/>
        </p:nvSpPr>
        <p:spPr>
          <a:xfrm>
            <a:off x="6396028" y="1553766"/>
            <a:ext cx="48078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Tamanho:</a:t>
            </a:r>
            <a:endParaRPr lang="en-US" sz="732" dirty="0"/>
          </a:p>
        </p:txBody>
      </p:sp>
      <p:sp>
        <p:nvSpPr>
          <p:cNvPr id="31" name="Text 28"/>
          <p:cNvSpPr/>
          <p:nvPr/>
        </p:nvSpPr>
        <p:spPr>
          <a:xfrm>
            <a:off x="6876808" y="1553766"/>
            <a:ext cx="7696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Arquivos, linhas </a:t>
            </a:r>
            <a:endParaRPr lang="en-US" sz="732" dirty="0"/>
          </a:p>
        </p:txBody>
      </p:sp>
      <p:sp>
        <p:nvSpPr>
          <p:cNvPr id="32" name="Text 29"/>
          <p:cNvSpPr/>
          <p:nvPr/>
        </p:nvSpPr>
        <p:spPr>
          <a:xfrm>
            <a:off x="6396028" y="1703784"/>
            <a:ext cx="1088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adicionadas/removidas </a:t>
            </a:r>
            <a:endParaRPr lang="en-US" sz="732" dirty="0"/>
          </a:p>
        </p:txBody>
      </p:sp>
      <p:sp>
        <p:nvSpPr>
          <p:cNvPr id="33" name="Text 30"/>
          <p:cNvSpPr/>
          <p:nvPr/>
        </p:nvSpPr>
        <p:spPr>
          <a:xfrm>
            <a:off x="6396028" y="1925241"/>
            <a:ext cx="356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Tempo:</a:t>
            </a:r>
            <a:endParaRPr lang="en-US" sz="732" dirty="0"/>
          </a:p>
        </p:txBody>
      </p:sp>
      <p:sp>
        <p:nvSpPr>
          <p:cNvPr id="34" name="Text 31"/>
          <p:cNvSpPr/>
          <p:nvPr/>
        </p:nvSpPr>
        <p:spPr>
          <a:xfrm>
            <a:off x="6752490" y="1925241"/>
            <a:ext cx="140787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Intervalo criação-fechamento </a:t>
            </a:r>
            <a:endParaRPr lang="en-US" sz="732" dirty="0"/>
          </a:p>
        </p:txBody>
      </p:sp>
      <p:sp>
        <p:nvSpPr>
          <p:cNvPr id="35" name="Text 32"/>
          <p:cNvSpPr/>
          <p:nvPr/>
        </p:nvSpPr>
        <p:spPr>
          <a:xfrm>
            <a:off x="6396028" y="2146697"/>
            <a:ext cx="5016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Descrição:</a:t>
            </a:r>
            <a:endParaRPr lang="en-US" sz="732" dirty="0"/>
          </a:p>
        </p:txBody>
      </p:sp>
      <p:sp>
        <p:nvSpPr>
          <p:cNvPr id="36" name="Text 33"/>
          <p:cNvSpPr/>
          <p:nvPr/>
        </p:nvSpPr>
        <p:spPr>
          <a:xfrm>
            <a:off x="6897709" y="2146697"/>
            <a:ext cx="12677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Caracteres no corpo do PR </a:t>
            </a:r>
            <a:endParaRPr lang="en-US" sz="732" dirty="0"/>
          </a:p>
        </p:txBody>
      </p:sp>
      <p:sp>
        <p:nvSpPr>
          <p:cNvPr id="37" name="Text 34"/>
          <p:cNvSpPr/>
          <p:nvPr/>
        </p:nvSpPr>
        <p:spPr>
          <a:xfrm>
            <a:off x="6396028" y="2368153"/>
            <a:ext cx="54719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Interações:</a:t>
            </a:r>
            <a:endParaRPr lang="en-US" sz="732" dirty="0"/>
          </a:p>
        </p:txBody>
      </p:sp>
      <p:sp>
        <p:nvSpPr>
          <p:cNvPr id="38" name="Text 35"/>
          <p:cNvSpPr/>
          <p:nvPr/>
        </p:nvSpPr>
        <p:spPr>
          <a:xfrm>
            <a:off x="6943223" y="2368153"/>
            <a:ext cx="130708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Participantes, comentários, </a:t>
            </a:r>
            <a:endParaRPr lang="en-US" sz="732" dirty="0"/>
          </a:p>
        </p:txBody>
      </p:sp>
      <p:sp>
        <p:nvSpPr>
          <p:cNvPr id="39" name="Text 36"/>
          <p:cNvSpPr/>
          <p:nvPr/>
        </p:nvSpPr>
        <p:spPr>
          <a:xfrm>
            <a:off x="6396028" y="2518172"/>
            <a:ext cx="3830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revisões </a:t>
            </a:r>
            <a:endParaRPr lang="en-US" sz="73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42020"/>
            <a:ext cx="42863" cy="285750"/>
          </a:xfrm>
          <a:prstGeom prst="round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578644" y="428625"/>
            <a:ext cx="3645489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Metodologia: Análise Estatística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28625" y="1026914"/>
            <a:ext cx="39647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Métodos Estatísticos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428625" y="1416248"/>
            <a:ext cx="3964781" cy="552552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428625" y="1416248"/>
            <a:ext cx="28575" cy="552552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557213" y="1544836"/>
            <a:ext cx="178594" cy="2953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📋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821531" y="1544836"/>
            <a:ext cx="225488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Teste de Normalidade</a:t>
            </a:r>
            <a:endParaRPr lang="en-US" sz="680" dirty="0"/>
          </a:p>
        </p:txBody>
      </p:sp>
      <p:sp>
        <p:nvSpPr>
          <p:cNvPr id="10" name="Text 7"/>
          <p:cNvSpPr/>
          <p:nvPr/>
        </p:nvSpPr>
        <p:spPr>
          <a:xfrm>
            <a:off x="821531" y="1700213"/>
            <a:ext cx="2254886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Shapiro-Wilk para avaliar distribuição dos dados</a:t>
            </a:r>
            <a:endParaRPr lang="en-US" sz="732" dirty="0"/>
          </a:p>
        </p:txBody>
      </p:sp>
      <p:sp>
        <p:nvSpPr>
          <p:cNvPr id="11" name="Shape 8"/>
          <p:cNvSpPr/>
          <p:nvPr/>
        </p:nvSpPr>
        <p:spPr>
          <a:xfrm>
            <a:off x="428625" y="2111676"/>
            <a:ext cx="3964781" cy="552552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428625" y="2111676"/>
            <a:ext cx="28575" cy="552552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557213" y="2240263"/>
            <a:ext cx="178594" cy="2953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📊</a:t>
            </a:r>
            <a:endParaRPr lang="en-US" sz="1046" dirty="0"/>
          </a:p>
        </p:txBody>
      </p:sp>
      <p:sp>
        <p:nvSpPr>
          <p:cNvPr id="14" name="Text 11"/>
          <p:cNvSpPr/>
          <p:nvPr/>
        </p:nvSpPr>
        <p:spPr>
          <a:xfrm>
            <a:off x="821531" y="2240263"/>
            <a:ext cx="240920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Correlações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821531" y="2395640"/>
            <a:ext cx="240920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Coeficiente de Spearman (dados não-paramétricos)</a:t>
            </a:r>
            <a:endParaRPr lang="en-US" sz="732" dirty="0"/>
          </a:p>
        </p:txBody>
      </p:sp>
      <p:sp>
        <p:nvSpPr>
          <p:cNvPr id="16" name="Shape 13"/>
          <p:cNvSpPr/>
          <p:nvPr/>
        </p:nvSpPr>
        <p:spPr>
          <a:xfrm>
            <a:off x="428625" y="2807103"/>
            <a:ext cx="3964781" cy="552552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428625" y="2807103"/>
            <a:ext cx="28575" cy="552552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57213" y="2935691"/>
            <a:ext cx="97585" cy="2953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</a:t>
            </a:r>
            <a:endParaRPr lang="en-US" sz="1046" dirty="0"/>
          </a:p>
        </p:txBody>
      </p:sp>
      <p:sp>
        <p:nvSpPr>
          <p:cNvPr id="19" name="Text 16"/>
          <p:cNvSpPr/>
          <p:nvPr/>
        </p:nvSpPr>
        <p:spPr>
          <a:xfrm>
            <a:off x="740522" y="2935691"/>
            <a:ext cx="186024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Significância</a:t>
            </a:r>
            <a:endParaRPr lang="en-US" sz="680" dirty="0"/>
          </a:p>
        </p:txBody>
      </p:sp>
      <p:sp>
        <p:nvSpPr>
          <p:cNvPr id="20" name="Text 17"/>
          <p:cNvSpPr/>
          <p:nvPr/>
        </p:nvSpPr>
        <p:spPr>
          <a:xfrm>
            <a:off x="740522" y="3091067"/>
            <a:ext cx="1860249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p-value &lt; 0.001 (altamente significativo)</a:t>
            </a:r>
            <a:endParaRPr lang="en-US" sz="732" dirty="0"/>
          </a:p>
        </p:txBody>
      </p:sp>
      <p:sp>
        <p:nvSpPr>
          <p:cNvPr id="21" name="Text 18"/>
          <p:cNvSpPr/>
          <p:nvPr/>
        </p:nvSpPr>
        <p:spPr>
          <a:xfrm>
            <a:off x="4750594" y="1026914"/>
            <a:ext cx="39647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Research Questions</a:t>
            </a:r>
            <a:endParaRPr lang="en-US" sz="942" dirty="0"/>
          </a:p>
        </p:txBody>
      </p:sp>
      <p:sp>
        <p:nvSpPr>
          <p:cNvPr id="22" name="Shape 19"/>
          <p:cNvSpPr/>
          <p:nvPr/>
        </p:nvSpPr>
        <p:spPr>
          <a:xfrm>
            <a:off x="4750594" y="1416248"/>
            <a:ext cx="1682911" cy="241102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4750594" y="1416248"/>
            <a:ext cx="1682911" cy="241102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Dimensão A: Feedback Final</a:t>
            </a:r>
            <a:endParaRPr lang="en-US" sz="680" dirty="0"/>
          </a:p>
        </p:txBody>
      </p:sp>
      <p:sp>
        <p:nvSpPr>
          <p:cNvPr id="24" name="Text 21"/>
          <p:cNvSpPr/>
          <p:nvPr/>
        </p:nvSpPr>
        <p:spPr>
          <a:xfrm>
            <a:off x="4872038" y="1734145"/>
            <a:ext cx="26551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RQ01:</a:t>
            </a:r>
            <a:endParaRPr lang="en-US" sz="680" dirty="0"/>
          </a:p>
        </p:txBody>
      </p:sp>
      <p:sp>
        <p:nvSpPr>
          <p:cNvPr id="25" name="Text 22"/>
          <p:cNvSpPr/>
          <p:nvPr/>
        </p:nvSpPr>
        <p:spPr>
          <a:xfrm>
            <a:off x="5137556" y="1734145"/>
            <a:ext cx="154572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Tamanho dos PRs vs Merge/Closed</a:t>
            </a:r>
            <a:endParaRPr lang="en-US" sz="680" dirty="0"/>
          </a:p>
        </p:txBody>
      </p:sp>
      <p:sp>
        <p:nvSpPr>
          <p:cNvPr id="26" name="Text 23"/>
          <p:cNvSpPr/>
          <p:nvPr/>
        </p:nvSpPr>
        <p:spPr>
          <a:xfrm>
            <a:off x="4872038" y="1944886"/>
            <a:ext cx="26551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RQ02:</a:t>
            </a:r>
            <a:endParaRPr lang="en-US" sz="680" dirty="0"/>
          </a:p>
        </p:txBody>
      </p:sp>
      <p:sp>
        <p:nvSpPr>
          <p:cNvPr id="27" name="Text 24"/>
          <p:cNvSpPr/>
          <p:nvPr/>
        </p:nvSpPr>
        <p:spPr>
          <a:xfrm>
            <a:off x="5137556" y="1944886"/>
            <a:ext cx="153679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Tempo de análise vs Merge/Closed</a:t>
            </a:r>
            <a:endParaRPr lang="en-US" sz="680" dirty="0"/>
          </a:p>
        </p:txBody>
      </p:sp>
      <p:sp>
        <p:nvSpPr>
          <p:cNvPr id="28" name="Text 25"/>
          <p:cNvSpPr/>
          <p:nvPr/>
        </p:nvSpPr>
        <p:spPr>
          <a:xfrm>
            <a:off x="4872038" y="2155627"/>
            <a:ext cx="26551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RQ03: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5137556" y="2155627"/>
            <a:ext cx="119942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Descrição vs Merge/Closed</a:t>
            </a:r>
            <a:endParaRPr lang="en-US" sz="680" dirty="0"/>
          </a:p>
        </p:txBody>
      </p:sp>
      <p:sp>
        <p:nvSpPr>
          <p:cNvPr id="30" name="Text 27"/>
          <p:cNvSpPr/>
          <p:nvPr/>
        </p:nvSpPr>
        <p:spPr>
          <a:xfrm>
            <a:off x="4872038" y="2366367"/>
            <a:ext cx="26551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RQ04:</a:t>
            </a:r>
            <a:endParaRPr lang="en-US" sz="680" dirty="0"/>
          </a:p>
        </p:txBody>
      </p:sp>
      <p:sp>
        <p:nvSpPr>
          <p:cNvPr id="31" name="Text 28"/>
          <p:cNvSpPr/>
          <p:nvPr/>
        </p:nvSpPr>
        <p:spPr>
          <a:xfrm>
            <a:off x="5137556" y="2366367"/>
            <a:ext cx="123600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Interações vs Merge/Closed</a:t>
            </a:r>
            <a:endParaRPr lang="en-US" sz="680" dirty="0"/>
          </a:p>
        </p:txBody>
      </p:sp>
      <p:sp>
        <p:nvSpPr>
          <p:cNvPr id="32" name="Shape 29"/>
          <p:cNvSpPr/>
          <p:nvPr/>
        </p:nvSpPr>
        <p:spPr>
          <a:xfrm>
            <a:off x="4750594" y="2607469"/>
            <a:ext cx="1950634" cy="241102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/>
          <p:nvPr/>
        </p:nvSpPr>
        <p:spPr>
          <a:xfrm>
            <a:off x="4750594" y="2607469"/>
            <a:ext cx="1950634" cy="241102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Dimensão B: Número de Revisões</a:t>
            </a:r>
            <a:endParaRPr lang="en-US" sz="680" dirty="0"/>
          </a:p>
        </p:txBody>
      </p:sp>
      <p:sp>
        <p:nvSpPr>
          <p:cNvPr id="34" name="Text 31"/>
          <p:cNvSpPr/>
          <p:nvPr/>
        </p:nvSpPr>
        <p:spPr>
          <a:xfrm>
            <a:off x="4872038" y="2925366"/>
            <a:ext cx="26551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RQ05:</a:t>
            </a:r>
            <a:endParaRPr lang="en-US" sz="680" dirty="0"/>
          </a:p>
        </p:txBody>
      </p:sp>
      <p:sp>
        <p:nvSpPr>
          <p:cNvPr id="35" name="Text 32"/>
          <p:cNvSpPr/>
          <p:nvPr/>
        </p:nvSpPr>
        <p:spPr>
          <a:xfrm>
            <a:off x="5137556" y="2925366"/>
            <a:ext cx="146491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Tamanho vs Número de Revisões</a:t>
            </a:r>
            <a:endParaRPr lang="en-US" sz="680" dirty="0"/>
          </a:p>
        </p:txBody>
      </p:sp>
      <p:sp>
        <p:nvSpPr>
          <p:cNvPr id="36" name="Text 33"/>
          <p:cNvSpPr/>
          <p:nvPr/>
        </p:nvSpPr>
        <p:spPr>
          <a:xfrm>
            <a:off x="4872038" y="3136106"/>
            <a:ext cx="26551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RQ06:</a:t>
            </a:r>
            <a:endParaRPr lang="en-US" sz="680" dirty="0"/>
          </a:p>
        </p:txBody>
      </p:sp>
      <p:sp>
        <p:nvSpPr>
          <p:cNvPr id="37" name="Text 34"/>
          <p:cNvSpPr/>
          <p:nvPr/>
        </p:nvSpPr>
        <p:spPr>
          <a:xfrm>
            <a:off x="5137556" y="3136106"/>
            <a:ext cx="135636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Tempo vs Número de Revisões</a:t>
            </a:r>
            <a:endParaRPr lang="en-US" sz="680" dirty="0"/>
          </a:p>
        </p:txBody>
      </p:sp>
      <p:sp>
        <p:nvSpPr>
          <p:cNvPr id="38" name="Text 35"/>
          <p:cNvSpPr/>
          <p:nvPr/>
        </p:nvSpPr>
        <p:spPr>
          <a:xfrm>
            <a:off x="4872038" y="3346847"/>
            <a:ext cx="26551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RQ07:</a:t>
            </a:r>
            <a:endParaRPr lang="en-US" sz="680" dirty="0"/>
          </a:p>
        </p:txBody>
      </p:sp>
      <p:sp>
        <p:nvSpPr>
          <p:cNvPr id="39" name="Text 36"/>
          <p:cNvSpPr/>
          <p:nvPr/>
        </p:nvSpPr>
        <p:spPr>
          <a:xfrm>
            <a:off x="5137556" y="3346847"/>
            <a:ext cx="148313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Descrição vs Número de Revisões</a:t>
            </a:r>
            <a:endParaRPr lang="en-US" sz="680" dirty="0"/>
          </a:p>
        </p:txBody>
      </p:sp>
      <p:sp>
        <p:nvSpPr>
          <p:cNvPr id="40" name="Text 37"/>
          <p:cNvSpPr/>
          <p:nvPr/>
        </p:nvSpPr>
        <p:spPr>
          <a:xfrm>
            <a:off x="4872038" y="3557588"/>
            <a:ext cx="26551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RQ08:</a:t>
            </a:r>
            <a:endParaRPr lang="en-US" sz="680" dirty="0"/>
          </a:p>
        </p:txBody>
      </p:sp>
      <p:sp>
        <p:nvSpPr>
          <p:cNvPr id="41" name="Text 38"/>
          <p:cNvSpPr/>
          <p:nvPr/>
        </p:nvSpPr>
        <p:spPr>
          <a:xfrm>
            <a:off x="5137556" y="3557588"/>
            <a:ext cx="151972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Interações vs Número de Revisões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613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42020"/>
            <a:ext cx="42863" cy="285750"/>
          </a:xfrm>
          <a:prstGeom prst="round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578644" y="428625"/>
            <a:ext cx="395434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Análise de Normalidade dos Dados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28625" y="1026914"/>
            <a:ext cx="4000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📊 Metodologia dos Q-Q Plots</a:t>
            </a:r>
            <a:endParaRPr lang="en-US" sz="837" dirty="0"/>
          </a:p>
        </p:txBody>
      </p:sp>
      <p:sp>
        <p:nvSpPr>
          <p:cNvPr id="6" name="Text 3"/>
          <p:cNvSpPr/>
          <p:nvPr/>
        </p:nvSpPr>
        <p:spPr>
          <a:xfrm>
            <a:off x="497109" y="1280437"/>
            <a:ext cx="3954280" cy="724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just"/>
            <a:r>
              <a:rPr lang="en-US" sz="785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Os</a:t>
            </a: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Quantile-Quantile plots </a:t>
            </a:r>
            <a:r>
              <a:rPr lang="en-US" sz="785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comparam</a:t>
            </a: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785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os</a:t>
            </a: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785" b="1" dirty="0" err="1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quantis</a:t>
            </a:r>
            <a:r>
              <a:rPr lang="en-US" sz="785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dos dados </a:t>
            </a:r>
            <a:r>
              <a:rPr lang="en-US" sz="785" b="1" dirty="0" err="1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observados</a:t>
            </a:r>
            <a:r>
              <a:rPr lang="en-US" sz="785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 </a:t>
            </a:r>
            <a:r>
              <a:rPr lang="en-US" sz="785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os</a:t>
            </a: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785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quantis</a:t>
            </a: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785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teóricos</a:t>
            </a: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 </a:t>
            </a:r>
            <a:r>
              <a:rPr lang="en-US" sz="785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uma</a:t>
            </a: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785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distribuição</a:t>
            </a: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normal. Pontos </a:t>
            </a:r>
            <a:r>
              <a:rPr lang="en-US" sz="785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alinhados</a:t>
            </a: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785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</a:t>
            </a: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785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linha</a:t>
            </a: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diagonal </a:t>
            </a:r>
            <a:r>
              <a:rPr lang="en-US" sz="785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indicam</a:t>
            </a: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785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normalidade</a:t>
            </a: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</a:t>
            </a:r>
            <a:endParaRPr lang="en-US" sz="785" dirty="0"/>
          </a:p>
          <a:p>
            <a:pPr algn="just"/>
            <a:endParaRPr lang="en-US" sz="785" dirty="0"/>
          </a:p>
          <a:p>
            <a:pPr algn="just"/>
            <a:endParaRPr lang="en-US" sz="785" dirty="0"/>
          </a:p>
          <a:p>
            <a:pPr marL="0" indent="0" algn="just">
              <a:buNone/>
            </a:pP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endParaRPr lang="en-US" sz="785" dirty="0"/>
          </a:p>
        </p:txBody>
      </p:sp>
      <p:sp>
        <p:nvSpPr>
          <p:cNvPr id="7" name="Text 4"/>
          <p:cNvSpPr/>
          <p:nvPr/>
        </p:nvSpPr>
        <p:spPr>
          <a:xfrm>
            <a:off x="2608222" y="1293339"/>
            <a:ext cx="65" cy="120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785" dirty="0"/>
          </a:p>
        </p:txBody>
      </p:sp>
      <p:sp>
        <p:nvSpPr>
          <p:cNvPr id="8" name="Text 5"/>
          <p:cNvSpPr/>
          <p:nvPr/>
        </p:nvSpPr>
        <p:spPr>
          <a:xfrm>
            <a:off x="528638" y="1464789"/>
            <a:ext cx="65" cy="120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785" dirty="0"/>
          </a:p>
        </p:txBody>
      </p:sp>
      <p:sp>
        <p:nvSpPr>
          <p:cNvPr id="9" name="Text 6"/>
          <p:cNvSpPr/>
          <p:nvPr/>
        </p:nvSpPr>
        <p:spPr>
          <a:xfrm>
            <a:off x="528638" y="1636239"/>
            <a:ext cx="65" cy="120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785" dirty="0"/>
          </a:p>
        </p:txBody>
      </p:sp>
      <p:sp>
        <p:nvSpPr>
          <p:cNvPr id="10" name="Text 7"/>
          <p:cNvSpPr/>
          <p:nvPr/>
        </p:nvSpPr>
        <p:spPr>
          <a:xfrm>
            <a:off x="428625" y="1960959"/>
            <a:ext cx="4000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🔍 Padrões Observados</a:t>
            </a:r>
            <a:endParaRPr lang="en-US" sz="837" dirty="0"/>
          </a:p>
        </p:txBody>
      </p:sp>
      <p:sp>
        <p:nvSpPr>
          <p:cNvPr id="11" name="Text 8"/>
          <p:cNvSpPr/>
          <p:nvPr/>
        </p:nvSpPr>
        <p:spPr>
          <a:xfrm>
            <a:off x="471488" y="2237276"/>
            <a:ext cx="3814762" cy="4832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Todas as </a:t>
            </a:r>
            <a:r>
              <a:rPr lang="en-US" sz="785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variáveis</a:t>
            </a: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785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apresentam</a:t>
            </a: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785" b="1" dirty="0" err="1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desvios</a:t>
            </a:r>
            <a:r>
              <a:rPr lang="en-US" sz="785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785" b="1" dirty="0" err="1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significativos</a:t>
            </a:r>
            <a:r>
              <a:rPr lang="en-US" sz="785" b="1" dirty="0"/>
              <a:t> </a:t>
            </a: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 </a:t>
            </a:r>
            <a:r>
              <a:rPr lang="en-US" sz="785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linha</a:t>
            </a: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diagonal, </a:t>
            </a:r>
            <a:r>
              <a:rPr lang="en-US" sz="785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indicando</a:t>
            </a: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forte </a:t>
            </a:r>
            <a:r>
              <a:rPr lang="en-US" sz="785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não-normalidade</a:t>
            </a: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 </a:t>
            </a:r>
            <a:r>
              <a:rPr lang="en-US" sz="785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assimetria</a:t>
            </a: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785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positiva</a:t>
            </a: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 </a:t>
            </a:r>
            <a:r>
              <a:rPr lang="en-US" sz="785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caudas</a:t>
            </a: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785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pesadas</a:t>
            </a: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</a:t>
            </a:r>
            <a:endParaRPr lang="en-US" sz="785" dirty="0"/>
          </a:p>
          <a:p>
            <a:endParaRPr lang="en-US" sz="785" dirty="0"/>
          </a:p>
          <a:p>
            <a:pPr marL="0" indent="0">
              <a:buNone/>
            </a:pP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endParaRPr lang="en-US" sz="785" dirty="0"/>
          </a:p>
        </p:txBody>
      </p:sp>
      <p:sp>
        <p:nvSpPr>
          <p:cNvPr id="15" name="Text 12"/>
          <p:cNvSpPr/>
          <p:nvPr/>
        </p:nvSpPr>
        <p:spPr>
          <a:xfrm>
            <a:off x="428625" y="2723555"/>
            <a:ext cx="4000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📈 Distribuições Típicas</a:t>
            </a:r>
            <a:endParaRPr lang="en-US" sz="837" dirty="0"/>
          </a:p>
        </p:txBody>
      </p:sp>
      <p:sp>
        <p:nvSpPr>
          <p:cNvPr id="16" name="Text 13"/>
          <p:cNvSpPr/>
          <p:nvPr/>
        </p:nvSpPr>
        <p:spPr>
          <a:xfrm>
            <a:off x="428625" y="3040627"/>
            <a:ext cx="4000500" cy="362407"/>
          </a:xfrm>
          <a:prstGeom prst="rect">
            <a:avLst/>
          </a:prstGeom>
          <a:noFill/>
          <a:ln/>
        </p:spPr>
        <p:txBody>
          <a:bodyPr wrap="square" lIns="102108" tIns="0" rIns="0" bIns="0" rtlCol="0" anchor="ctr">
            <a:spAutoFit/>
          </a:bodyPr>
          <a:lstStyle/>
          <a:p>
            <a:pPr marL="0" indent="0" algn="just">
              <a:buNone/>
            </a:pPr>
            <a:r>
              <a:rPr lang="en-US" sz="785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Padrões</a:t>
            </a: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côncavos para cima, degraus visíveis em variáveis discretas, e desvios extremos nas caudas caracterizam dados de contagem e métricas de software com distribuição super-dispersa. </a:t>
            </a:r>
            <a:endParaRPr lang="en-US" sz="785" dirty="0"/>
          </a:p>
        </p:txBody>
      </p:sp>
      <p:sp>
        <p:nvSpPr>
          <p:cNvPr id="17" name="Shape 14"/>
          <p:cNvSpPr/>
          <p:nvPr/>
        </p:nvSpPr>
        <p:spPr>
          <a:xfrm>
            <a:off x="428625" y="3729038"/>
            <a:ext cx="4000500" cy="101619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428625" y="3729038"/>
            <a:ext cx="28575" cy="1016198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71500" y="3871913"/>
            <a:ext cx="37147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23863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 Conclusão</a:t>
            </a:r>
            <a:endParaRPr lang="en-US" sz="732" dirty="0"/>
          </a:p>
        </p:txBody>
      </p:sp>
      <p:sp>
        <p:nvSpPr>
          <p:cNvPr id="20" name="Text 17"/>
          <p:cNvSpPr/>
          <p:nvPr/>
        </p:nvSpPr>
        <p:spPr>
          <a:xfrm>
            <a:off x="571500" y="4100513"/>
            <a:ext cx="9635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</a:t>
            </a:r>
            <a:endParaRPr lang="en-US" sz="785" dirty="0"/>
          </a:p>
        </p:txBody>
      </p:sp>
      <p:sp>
        <p:nvSpPr>
          <p:cNvPr id="21" name="Text 18"/>
          <p:cNvSpPr/>
          <p:nvPr/>
        </p:nvSpPr>
        <p:spPr>
          <a:xfrm>
            <a:off x="705040" y="4100513"/>
            <a:ext cx="118720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forte não-normalidade</a:t>
            </a:r>
            <a:endParaRPr lang="en-US" sz="785" dirty="0"/>
          </a:p>
        </p:txBody>
      </p:sp>
      <p:sp>
        <p:nvSpPr>
          <p:cNvPr id="22" name="Text 19"/>
          <p:cNvSpPr/>
          <p:nvPr/>
        </p:nvSpPr>
        <p:spPr>
          <a:xfrm>
            <a:off x="1855059" y="4100513"/>
            <a:ext cx="198080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justifica plenamente o uso de métodos </a:t>
            </a:r>
            <a:endParaRPr lang="en-US" sz="785" dirty="0"/>
          </a:p>
        </p:txBody>
      </p:sp>
      <p:sp>
        <p:nvSpPr>
          <p:cNvPr id="23" name="Text 20"/>
          <p:cNvSpPr/>
          <p:nvPr/>
        </p:nvSpPr>
        <p:spPr>
          <a:xfrm>
            <a:off x="571500" y="4271963"/>
            <a:ext cx="330772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estatísticos não paramétricos (Spearman) em todas as análises de </a:t>
            </a:r>
            <a:endParaRPr lang="en-US" sz="785" dirty="0"/>
          </a:p>
        </p:txBody>
      </p:sp>
      <p:sp>
        <p:nvSpPr>
          <p:cNvPr id="24" name="Text 21"/>
          <p:cNvSpPr/>
          <p:nvPr/>
        </p:nvSpPr>
        <p:spPr>
          <a:xfrm>
            <a:off x="571500" y="4443413"/>
            <a:ext cx="55592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correlação. </a:t>
            </a:r>
            <a:endParaRPr lang="en-US" sz="785" dirty="0"/>
          </a:p>
        </p:txBody>
      </p:sp>
      <p:sp>
        <p:nvSpPr>
          <p:cNvPr id="25" name="Shape 22"/>
          <p:cNvSpPr/>
          <p:nvPr/>
        </p:nvSpPr>
        <p:spPr>
          <a:xfrm>
            <a:off x="4714875" y="1026914"/>
            <a:ext cx="4000500" cy="3571875"/>
          </a:xfrm>
          <a:prstGeom prst="rect">
            <a:avLst/>
          </a:prstGeom>
          <a:solidFill>
            <a:srgbClr val="161B22"/>
          </a:solidFill>
          <a:ln w="99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1026914"/>
            <a:ext cx="4000500" cy="3571875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999034" y="4705945"/>
            <a:ext cx="343218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Q-Q Plots: Comparação entre Dados Observados e Distribuição Normal Teórica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882"/>
            <a:ext cx="9144000" cy="529768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7188" y="370582"/>
            <a:ext cx="42863" cy="285750"/>
          </a:xfrm>
          <a:prstGeom prst="round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507206" y="357188"/>
            <a:ext cx="561398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Dimensão A: Tamanho e Tempo vs Feedback Final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57188" y="884039"/>
            <a:ext cx="17859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📏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607219" y="893862"/>
            <a:ext cx="209470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RQ01: Tamanho dos PRs vs Status 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357188" y="1221581"/>
            <a:ext cx="4071938" cy="2000250"/>
          </a:xfrm>
          <a:prstGeom prst="rect">
            <a:avLst/>
          </a:prstGeom>
          <a:solidFill>
            <a:srgbClr val="161B22"/>
          </a:solidFill>
          <a:ln w="99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8" y="1221581"/>
            <a:ext cx="4071938" cy="2000250"/>
          </a:xfrm>
          <a:prstGeom prst="rect">
            <a:avLst/>
          </a:prstGeom>
        </p:spPr>
      </p:pic>
      <p:grpSp>
        <p:nvGrpSpPr>
          <p:cNvPr id="47" name="Agrupar 46">
            <a:extLst>
              <a:ext uri="{FF2B5EF4-FFF2-40B4-BE49-F238E27FC236}">
                <a16:creationId xmlns:a16="http://schemas.microsoft.com/office/drawing/2014/main" id="{795B8EE1-3E31-808D-BC61-9AF210CA705B}"/>
              </a:ext>
            </a:extLst>
          </p:cNvPr>
          <p:cNvGrpSpPr/>
          <p:nvPr/>
        </p:nvGrpSpPr>
        <p:grpSpPr>
          <a:xfrm>
            <a:off x="357188" y="3318271"/>
            <a:ext cx="4071938" cy="455414"/>
            <a:chOff x="357188" y="3364706"/>
            <a:chExt cx="4071938" cy="562570"/>
          </a:xfrm>
        </p:grpSpPr>
        <p:sp>
          <p:nvSpPr>
            <p:cNvPr id="9" name="Shape 5"/>
            <p:cNvSpPr/>
            <p:nvPr/>
          </p:nvSpPr>
          <p:spPr>
            <a:xfrm>
              <a:off x="357188" y="3364706"/>
              <a:ext cx="4071938" cy="562570"/>
            </a:xfrm>
            <a:prstGeom prst="rect">
              <a:avLst/>
            </a:prstGeom>
            <a:solidFill>
              <a:srgbClr val="161B2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Shape 6"/>
            <p:cNvSpPr/>
            <p:nvPr/>
          </p:nvSpPr>
          <p:spPr>
            <a:xfrm>
              <a:off x="357188" y="3364706"/>
              <a:ext cx="28575" cy="562570"/>
            </a:xfrm>
            <a:prstGeom prst="rect">
              <a:avLst/>
            </a:prstGeom>
            <a:solidFill>
              <a:srgbClr val="238636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 7"/>
            <p:cNvSpPr/>
            <p:nvPr/>
          </p:nvSpPr>
          <p:spPr>
            <a:xfrm>
              <a:off x="464344" y="3471863"/>
              <a:ext cx="3857625" cy="1160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628" b="1" dirty="0">
                  <a:solidFill>
                    <a:srgbClr val="8B949E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Correlação de Spearman</a:t>
              </a:r>
              <a:endParaRPr lang="en-US" sz="628" dirty="0"/>
            </a:p>
          </p:txBody>
        </p:sp>
        <p:sp>
          <p:nvSpPr>
            <p:cNvPr id="12" name="Text 8"/>
            <p:cNvSpPr/>
            <p:nvPr/>
          </p:nvSpPr>
          <p:spPr>
            <a:xfrm>
              <a:off x="464344" y="3645098"/>
              <a:ext cx="3857625" cy="1750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942" b="1" dirty="0">
                  <a:solidFill>
                    <a:srgbClr val="F0883E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+0.0566</a:t>
              </a:r>
              <a:endParaRPr lang="en-US" sz="942" dirty="0"/>
            </a:p>
          </p:txBody>
        </p:sp>
      </p:grp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0D66259F-0E2A-284C-5BDA-81F5C37E2D82}"/>
              </a:ext>
            </a:extLst>
          </p:cNvPr>
          <p:cNvGrpSpPr/>
          <p:nvPr/>
        </p:nvGrpSpPr>
        <p:grpSpPr>
          <a:xfrm>
            <a:off x="357188" y="3829602"/>
            <a:ext cx="4071938" cy="373601"/>
            <a:chOff x="357188" y="4013002"/>
            <a:chExt cx="4071938" cy="562570"/>
          </a:xfrm>
        </p:grpSpPr>
        <p:sp>
          <p:nvSpPr>
            <p:cNvPr id="13" name="Shape 9"/>
            <p:cNvSpPr/>
            <p:nvPr/>
          </p:nvSpPr>
          <p:spPr>
            <a:xfrm>
              <a:off x="357188" y="4013002"/>
              <a:ext cx="4071938" cy="562570"/>
            </a:xfrm>
            <a:prstGeom prst="rect">
              <a:avLst/>
            </a:prstGeom>
            <a:solidFill>
              <a:srgbClr val="161B2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Shape 10"/>
            <p:cNvSpPr/>
            <p:nvPr/>
          </p:nvSpPr>
          <p:spPr>
            <a:xfrm>
              <a:off x="357188" y="4013002"/>
              <a:ext cx="28575" cy="562570"/>
            </a:xfrm>
            <a:prstGeom prst="rect">
              <a:avLst/>
            </a:prstGeom>
            <a:solidFill>
              <a:srgbClr val="238636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Text 11"/>
            <p:cNvSpPr/>
            <p:nvPr/>
          </p:nvSpPr>
          <p:spPr>
            <a:xfrm>
              <a:off x="464344" y="4120158"/>
              <a:ext cx="3857625" cy="1160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628" b="1" dirty="0">
                  <a:solidFill>
                    <a:srgbClr val="8B949E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Mediana - Merged vs Closed</a:t>
              </a:r>
              <a:endParaRPr lang="en-US" sz="628" dirty="0"/>
            </a:p>
          </p:txBody>
        </p:sp>
        <p:sp>
          <p:nvSpPr>
            <p:cNvPr id="16" name="Text 12"/>
            <p:cNvSpPr/>
            <p:nvPr/>
          </p:nvSpPr>
          <p:spPr>
            <a:xfrm>
              <a:off x="464344" y="4293394"/>
              <a:ext cx="3857625" cy="1750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942" b="1" dirty="0">
                  <a:solidFill>
                    <a:srgbClr val="F0883E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19 vs 14 linhas</a:t>
              </a:r>
              <a:endParaRPr lang="en-US" sz="942" dirty="0"/>
            </a:p>
          </p:txBody>
        </p:sp>
      </p:grp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E97FD002-E91B-9800-2B92-A83B861CBDF6}"/>
              </a:ext>
            </a:extLst>
          </p:cNvPr>
          <p:cNvGrpSpPr/>
          <p:nvPr/>
        </p:nvGrpSpPr>
        <p:grpSpPr>
          <a:xfrm>
            <a:off x="355921" y="4276503"/>
            <a:ext cx="4071938" cy="311451"/>
            <a:chOff x="357188" y="4661297"/>
            <a:chExt cx="4071938" cy="311451"/>
          </a:xfrm>
        </p:grpSpPr>
        <p:sp>
          <p:nvSpPr>
            <p:cNvPr id="17" name="Shape 13"/>
            <p:cNvSpPr/>
            <p:nvPr/>
          </p:nvSpPr>
          <p:spPr>
            <a:xfrm>
              <a:off x="357188" y="4661297"/>
              <a:ext cx="4071938" cy="311451"/>
            </a:xfrm>
            <a:prstGeom prst="rect">
              <a:avLst/>
            </a:prstGeom>
            <a:solidFill>
              <a:srgbClr val="1F6FEB">
                <a:alpha val="10000"/>
              </a:srgbClr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Shape 14"/>
            <p:cNvSpPr/>
            <p:nvPr/>
          </p:nvSpPr>
          <p:spPr>
            <a:xfrm>
              <a:off x="357188" y="4661297"/>
              <a:ext cx="28575" cy="311451"/>
            </a:xfrm>
            <a:prstGeom prst="rect">
              <a:avLst/>
            </a:prstGeom>
            <a:solidFill>
              <a:srgbClr val="238636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 15"/>
            <p:cNvSpPr/>
            <p:nvPr/>
          </p:nvSpPr>
          <p:spPr>
            <a:xfrm>
              <a:off x="357188" y="4661297"/>
              <a:ext cx="4071938" cy="311451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>
                <a:buNone/>
              </a:pPr>
              <a:r>
                <a:rPr lang="en-US" sz="732" b="1" dirty="0">
                  <a:solidFill>
                    <a:srgbClr val="C9D1D9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 ✓ Correlação positiva fraca porém significativa (p &lt; 0.001) </a:t>
              </a:r>
              <a:endParaRPr lang="en-US" sz="732" dirty="0"/>
            </a:p>
          </p:txBody>
        </p:sp>
      </p:grp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A83F15A2-7554-4EF7-D48A-D9D0D2C9229F}"/>
              </a:ext>
            </a:extLst>
          </p:cNvPr>
          <p:cNvGrpSpPr/>
          <p:nvPr/>
        </p:nvGrpSpPr>
        <p:grpSpPr>
          <a:xfrm>
            <a:off x="373977" y="4639051"/>
            <a:ext cx="4071938" cy="439918"/>
            <a:chOff x="357188" y="5058473"/>
            <a:chExt cx="4071938" cy="471491"/>
          </a:xfrm>
        </p:grpSpPr>
        <p:sp>
          <p:nvSpPr>
            <p:cNvPr id="20" name="Shape 16"/>
            <p:cNvSpPr/>
            <p:nvPr/>
          </p:nvSpPr>
          <p:spPr>
            <a:xfrm>
              <a:off x="357188" y="5058476"/>
              <a:ext cx="4071938" cy="471488"/>
            </a:xfrm>
            <a:prstGeom prst="rect">
              <a:avLst/>
            </a:prstGeom>
            <a:solidFill>
              <a:srgbClr val="0D1117"/>
            </a:solidFill>
            <a:ln/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21" name="Shape 17"/>
            <p:cNvSpPr/>
            <p:nvPr/>
          </p:nvSpPr>
          <p:spPr>
            <a:xfrm>
              <a:off x="357188" y="5058473"/>
              <a:ext cx="21431" cy="471488"/>
            </a:xfrm>
            <a:prstGeom prst="rect">
              <a:avLst/>
            </a:prstGeom>
            <a:solidFill>
              <a:srgbClr val="1F6FEB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Text 18"/>
            <p:cNvSpPr/>
            <p:nvPr/>
          </p:nvSpPr>
          <p:spPr>
            <a:xfrm>
              <a:off x="442913" y="5151341"/>
              <a:ext cx="1486598" cy="13573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732" dirty="0">
                  <a:solidFill>
                    <a:srgbClr val="C9D1D9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 Contrariando a hipótese inicial, </a:t>
              </a:r>
              <a:endParaRPr lang="en-US" sz="732" dirty="0"/>
            </a:p>
          </p:txBody>
        </p:sp>
        <p:sp>
          <p:nvSpPr>
            <p:cNvPr id="23" name="Text 19"/>
            <p:cNvSpPr/>
            <p:nvPr/>
          </p:nvSpPr>
          <p:spPr>
            <a:xfrm>
              <a:off x="1929510" y="5151341"/>
              <a:ext cx="1940561" cy="13573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732" b="1" dirty="0">
                  <a:solidFill>
                    <a:srgbClr val="F0883E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PRs MERGED são ligeiramente MAIORES</a:t>
              </a:r>
              <a:endParaRPr lang="en-US" sz="732" dirty="0"/>
            </a:p>
          </p:txBody>
        </p:sp>
        <p:sp>
          <p:nvSpPr>
            <p:cNvPr id="24" name="Text 20"/>
            <p:cNvSpPr/>
            <p:nvPr/>
          </p:nvSpPr>
          <p:spPr>
            <a:xfrm>
              <a:off x="3870071" y="5151341"/>
              <a:ext cx="402366" cy="13573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732" dirty="0">
                  <a:solidFill>
                    <a:srgbClr val="C9D1D9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 que PRs </a:t>
              </a:r>
              <a:endParaRPr lang="en-US" sz="732" dirty="0"/>
            </a:p>
          </p:txBody>
        </p:sp>
        <p:sp>
          <p:nvSpPr>
            <p:cNvPr id="25" name="Text 21"/>
            <p:cNvSpPr/>
            <p:nvPr/>
          </p:nvSpPr>
          <p:spPr>
            <a:xfrm>
              <a:off x="442913" y="5301360"/>
              <a:ext cx="2600548" cy="13573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732" dirty="0">
                  <a:solidFill>
                    <a:srgbClr val="C9D1D9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CLOSED. O tamanho tem impacto mínimo na aceitação. </a:t>
              </a:r>
              <a:endParaRPr lang="en-US" sz="732" dirty="0"/>
            </a:p>
          </p:txBody>
        </p:sp>
      </p:grpSp>
      <p:sp>
        <p:nvSpPr>
          <p:cNvPr id="26" name="Text 22"/>
          <p:cNvSpPr/>
          <p:nvPr/>
        </p:nvSpPr>
        <p:spPr>
          <a:xfrm>
            <a:off x="4714875" y="884039"/>
            <a:ext cx="17859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⏱️</a:t>
            </a:r>
            <a:endParaRPr lang="en-US" sz="1046" dirty="0"/>
          </a:p>
        </p:txBody>
      </p:sp>
      <p:sp>
        <p:nvSpPr>
          <p:cNvPr id="27" name="Text 23"/>
          <p:cNvSpPr/>
          <p:nvPr/>
        </p:nvSpPr>
        <p:spPr>
          <a:xfrm>
            <a:off x="4964906" y="893862"/>
            <a:ext cx="209791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RQ02: Tempo de Análise vs Status </a:t>
            </a:r>
            <a:endParaRPr lang="en-US" sz="942" dirty="0"/>
          </a:p>
        </p:txBody>
      </p:sp>
      <p:sp>
        <p:nvSpPr>
          <p:cNvPr id="28" name="Shape 24"/>
          <p:cNvSpPr/>
          <p:nvPr/>
        </p:nvSpPr>
        <p:spPr>
          <a:xfrm>
            <a:off x="4714875" y="1221581"/>
            <a:ext cx="4071938" cy="2000250"/>
          </a:xfrm>
          <a:prstGeom prst="rect">
            <a:avLst/>
          </a:prstGeom>
          <a:solidFill>
            <a:srgbClr val="161B22"/>
          </a:solidFill>
          <a:ln w="99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1221581"/>
            <a:ext cx="4071938" cy="2000250"/>
          </a:xfrm>
          <a:prstGeom prst="rect">
            <a:avLst/>
          </a:prstGeom>
        </p:spPr>
      </p:pic>
      <p:grpSp>
        <p:nvGrpSpPr>
          <p:cNvPr id="49" name="Agrupar 48">
            <a:extLst>
              <a:ext uri="{FF2B5EF4-FFF2-40B4-BE49-F238E27FC236}">
                <a16:creationId xmlns:a16="http://schemas.microsoft.com/office/drawing/2014/main" id="{7448DF4D-B51D-1ABE-5737-53FEC8234E48}"/>
              </a:ext>
            </a:extLst>
          </p:cNvPr>
          <p:cNvGrpSpPr/>
          <p:nvPr/>
        </p:nvGrpSpPr>
        <p:grpSpPr>
          <a:xfrm>
            <a:off x="4698085" y="3305157"/>
            <a:ext cx="4071938" cy="455414"/>
            <a:chOff x="4714875" y="3364706"/>
            <a:chExt cx="4071938" cy="562570"/>
          </a:xfrm>
        </p:grpSpPr>
        <p:sp>
          <p:nvSpPr>
            <p:cNvPr id="30" name="Shape 25"/>
            <p:cNvSpPr/>
            <p:nvPr/>
          </p:nvSpPr>
          <p:spPr>
            <a:xfrm>
              <a:off x="4714875" y="3364706"/>
              <a:ext cx="4071938" cy="562570"/>
            </a:xfrm>
            <a:prstGeom prst="rect">
              <a:avLst/>
            </a:prstGeom>
            <a:solidFill>
              <a:srgbClr val="161B2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Shape 26"/>
            <p:cNvSpPr/>
            <p:nvPr/>
          </p:nvSpPr>
          <p:spPr>
            <a:xfrm>
              <a:off x="4714875" y="3364706"/>
              <a:ext cx="28575" cy="562570"/>
            </a:xfrm>
            <a:prstGeom prst="rect">
              <a:avLst/>
            </a:prstGeom>
            <a:solidFill>
              <a:srgbClr val="238636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Text 27"/>
            <p:cNvSpPr/>
            <p:nvPr/>
          </p:nvSpPr>
          <p:spPr>
            <a:xfrm>
              <a:off x="4822031" y="3471863"/>
              <a:ext cx="3857625" cy="1160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628" b="1" dirty="0">
                  <a:solidFill>
                    <a:srgbClr val="8B949E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Correlação de Spearman</a:t>
              </a:r>
              <a:endParaRPr lang="en-US" sz="628" dirty="0"/>
            </a:p>
          </p:txBody>
        </p:sp>
        <p:sp>
          <p:nvSpPr>
            <p:cNvPr id="33" name="Text 28"/>
            <p:cNvSpPr/>
            <p:nvPr/>
          </p:nvSpPr>
          <p:spPr>
            <a:xfrm>
              <a:off x="4822031" y="3645098"/>
              <a:ext cx="3857625" cy="1750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942" b="1" dirty="0">
                  <a:solidFill>
                    <a:srgbClr val="F0883E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-0.2395</a:t>
              </a:r>
              <a:endParaRPr lang="en-US" sz="942" dirty="0"/>
            </a:p>
          </p:txBody>
        </p:sp>
      </p:grp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8F0AEC0F-17ED-F935-05CE-417E685BD9E9}"/>
              </a:ext>
            </a:extLst>
          </p:cNvPr>
          <p:cNvGrpSpPr/>
          <p:nvPr/>
        </p:nvGrpSpPr>
        <p:grpSpPr>
          <a:xfrm>
            <a:off x="4698085" y="3816489"/>
            <a:ext cx="4071938" cy="383424"/>
            <a:chOff x="4714875" y="4013002"/>
            <a:chExt cx="4071938" cy="562570"/>
          </a:xfrm>
        </p:grpSpPr>
        <p:sp>
          <p:nvSpPr>
            <p:cNvPr id="34" name="Shape 29"/>
            <p:cNvSpPr/>
            <p:nvPr/>
          </p:nvSpPr>
          <p:spPr>
            <a:xfrm>
              <a:off x="4714875" y="4013002"/>
              <a:ext cx="4071938" cy="562570"/>
            </a:xfrm>
            <a:prstGeom prst="rect">
              <a:avLst/>
            </a:prstGeom>
            <a:solidFill>
              <a:srgbClr val="161B2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Shape 30"/>
            <p:cNvSpPr/>
            <p:nvPr/>
          </p:nvSpPr>
          <p:spPr>
            <a:xfrm>
              <a:off x="4714875" y="4013002"/>
              <a:ext cx="28575" cy="562570"/>
            </a:xfrm>
            <a:prstGeom prst="rect">
              <a:avLst/>
            </a:prstGeom>
            <a:solidFill>
              <a:srgbClr val="238636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Text 31"/>
            <p:cNvSpPr/>
            <p:nvPr/>
          </p:nvSpPr>
          <p:spPr>
            <a:xfrm>
              <a:off x="4822031" y="4120158"/>
              <a:ext cx="3857625" cy="1160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628" b="1" dirty="0">
                  <a:solidFill>
                    <a:srgbClr val="8B949E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Mediana - Merged vs Closed</a:t>
              </a:r>
              <a:endParaRPr lang="en-US" sz="628" dirty="0"/>
            </a:p>
          </p:txBody>
        </p:sp>
        <p:sp>
          <p:nvSpPr>
            <p:cNvPr id="37" name="Text 32"/>
            <p:cNvSpPr/>
            <p:nvPr/>
          </p:nvSpPr>
          <p:spPr>
            <a:xfrm>
              <a:off x="4822031" y="4293394"/>
              <a:ext cx="3857625" cy="1750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942" b="1" dirty="0">
                  <a:solidFill>
                    <a:srgbClr val="F0883E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32h vs 224h</a:t>
              </a:r>
              <a:endParaRPr lang="en-US" sz="942" dirty="0"/>
            </a:p>
          </p:txBody>
        </p:sp>
      </p:grp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C3A097F2-7F79-9CA6-46D9-B4168956A055}"/>
              </a:ext>
            </a:extLst>
          </p:cNvPr>
          <p:cNvGrpSpPr/>
          <p:nvPr/>
        </p:nvGrpSpPr>
        <p:grpSpPr>
          <a:xfrm>
            <a:off x="4698084" y="4251892"/>
            <a:ext cx="4071938" cy="311451"/>
            <a:chOff x="4714875" y="4661297"/>
            <a:chExt cx="4071938" cy="311451"/>
          </a:xfrm>
        </p:grpSpPr>
        <p:sp>
          <p:nvSpPr>
            <p:cNvPr id="38" name="Shape 33"/>
            <p:cNvSpPr/>
            <p:nvPr/>
          </p:nvSpPr>
          <p:spPr>
            <a:xfrm>
              <a:off x="4714875" y="4661297"/>
              <a:ext cx="4071938" cy="311451"/>
            </a:xfrm>
            <a:prstGeom prst="rect">
              <a:avLst/>
            </a:prstGeom>
            <a:solidFill>
              <a:srgbClr val="1F6FEB">
                <a:alpha val="10000"/>
              </a:srgbClr>
            </a:solidFill>
            <a:ln/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39" name="Shape 34"/>
            <p:cNvSpPr/>
            <p:nvPr/>
          </p:nvSpPr>
          <p:spPr>
            <a:xfrm>
              <a:off x="4714875" y="4661297"/>
              <a:ext cx="28575" cy="311451"/>
            </a:xfrm>
            <a:prstGeom prst="rect">
              <a:avLst/>
            </a:prstGeom>
            <a:solidFill>
              <a:srgbClr val="238636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Text 35"/>
            <p:cNvSpPr/>
            <p:nvPr/>
          </p:nvSpPr>
          <p:spPr>
            <a:xfrm>
              <a:off x="4714875" y="4661297"/>
              <a:ext cx="4071938" cy="311451"/>
            </a:xfrm>
            <a:prstGeom prst="rect">
              <a:avLst/>
            </a:prstGeom>
            <a:noFill/>
            <a:ln/>
          </p:spPr>
          <p:txBody>
            <a:bodyPr wrap="square" lIns="102108" tIns="102108" rIns="102108" bIns="102108" rtlCol="0" anchor="ctr">
              <a:spAutoFit/>
            </a:bodyPr>
            <a:lstStyle/>
            <a:p>
              <a:pPr marL="0" indent="0">
                <a:buNone/>
              </a:pPr>
              <a:r>
                <a:rPr lang="en-US" sz="732" b="1" dirty="0">
                  <a:solidFill>
                    <a:srgbClr val="C9D1D9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 ✓ Correlação negativa forte (p &lt; 0.001) </a:t>
              </a:r>
              <a:endParaRPr lang="en-US" sz="732" dirty="0"/>
            </a:p>
          </p:txBody>
        </p:sp>
      </p:grp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130EADD5-4F87-722B-E5A5-F511268A7267}"/>
              </a:ext>
            </a:extLst>
          </p:cNvPr>
          <p:cNvGrpSpPr/>
          <p:nvPr/>
        </p:nvGrpSpPr>
        <p:grpSpPr>
          <a:xfrm>
            <a:off x="4712371" y="4638890"/>
            <a:ext cx="4071938" cy="415774"/>
            <a:chOff x="4714875" y="5058473"/>
            <a:chExt cx="4071938" cy="471488"/>
          </a:xfrm>
        </p:grpSpPr>
        <p:sp>
          <p:nvSpPr>
            <p:cNvPr id="41" name="Shape 36"/>
            <p:cNvSpPr/>
            <p:nvPr/>
          </p:nvSpPr>
          <p:spPr>
            <a:xfrm>
              <a:off x="4714875" y="5058473"/>
              <a:ext cx="4071938" cy="471488"/>
            </a:xfrm>
            <a:prstGeom prst="rect">
              <a:avLst/>
            </a:prstGeom>
            <a:solidFill>
              <a:srgbClr val="0D1117"/>
            </a:solidFill>
            <a:ln/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42" name="Shape 37"/>
            <p:cNvSpPr/>
            <p:nvPr/>
          </p:nvSpPr>
          <p:spPr>
            <a:xfrm>
              <a:off x="4714875" y="5058473"/>
              <a:ext cx="21431" cy="471488"/>
            </a:xfrm>
            <a:prstGeom prst="rect">
              <a:avLst/>
            </a:prstGeom>
            <a:solidFill>
              <a:srgbClr val="1F6FEB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Text 38"/>
            <p:cNvSpPr/>
            <p:nvPr/>
          </p:nvSpPr>
          <p:spPr>
            <a:xfrm>
              <a:off x="4800600" y="5151341"/>
              <a:ext cx="1601316" cy="13573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732" b="1" dirty="0">
                  <a:solidFill>
                    <a:srgbClr val="F0883E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PRs MERGED são 7x mais rápidos</a:t>
              </a:r>
              <a:endParaRPr lang="en-US" sz="732" dirty="0"/>
            </a:p>
          </p:txBody>
        </p:sp>
        <p:sp>
          <p:nvSpPr>
            <p:cNvPr id="44" name="Text 39"/>
            <p:cNvSpPr/>
            <p:nvPr/>
          </p:nvSpPr>
          <p:spPr>
            <a:xfrm>
              <a:off x="6401916" y="5151341"/>
              <a:ext cx="2274894" cy="13573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732" dirty="0">
                  <a:solidFill>
                    <a:srgbClr val="C9D1D9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 que PRs CLOSED. A velocidade é um fator crítico </a:t>
              </a:r>
              <a:endParaRPr lang="en-US" sz="732" dirty="0"/>
            </a:p>
          </p:txBody>
        </p:sp>
        <p:sp>
          <p:nvSpPr>
            <p:cNvPr id="45" name="Text 40"/>
            <p:cNvSpPr/>
            <p:nvPr/>
          </p:nvSpPr>
          <p:spPr>
            <a:xfrm>
              <a:off x="4800600" y="5301360"/>
              <a:ext cx="708989" cy="13573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732" dirty="0">
                  <a:solidFill>
                    <a:srgbClr val="C9D1D9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para aceitação. </a:t>
              </a:r>
              <a:endParaRPr lang="en-US" sz="732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298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42020"/>
            <a:ext cx="42863" cy="285750"/>
          </a:xfrm>
          <a:prstGeom prst="round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578644" y="428625"/>
            <a:ext cx="611962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Dimensão A: Descrição e Interações vs Feedback Final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28625" y="955477"/>
            <a:ext cx="4036219" cy="3845793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428625" y="955477"/>
            <a:ext cx="35719" cy="3845793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07219" y="1134070"/>
            <a:ext cx="36790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RQ03: Descrição dos PRs vs Feedback Final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607219" y="1451967"/>
            <a:ext cx="367903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Correlação de Spearman</a:t>
            </a:r>
            <a:endParaRPr lang="en-US" sz="628" dirty="0"/>
          </a:p>
        </p:txBody>
      </p:sp>
      <p:sp>
        <p:nvSpPr>
          <p:cNvPr id="9" name="Text 6"/>
          <p:cNvSpPr/>
          <p:nvPr/>
        </p:nvSpPr>
        <p:spPr>
          <a:xfrm>
            <a:off x="607219" y="1625203"/>
            <a:ext cx="367903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-0.0682</a:t>
            </a:r>
            <a:endParaRPr lang="en-US" sz="1046" dirty="0"/>
          </a:p>
        </p:txBody>
      </p:sp>
      <p:sp>
        <p:nvSpPr>
          <p:cNvPr id="10" name="Shape 7"/>
          <p:cNvSpPr/>
          <p:nvPr/>
        </p:nvSpPr>
        <p:spPr>
          <a:xfrm>
            <a:off x="607219" y="1934170"/>
            <a:ext cx="3679031" cy="173236"/>
          </a:xfrm>
          <a:prstGeom prst="rect">
            <a:avLst/>
          </a:prstGeom>
          <a:solidFill>
            <a:srgbClr val="DA363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07219" y="1934170"/>
            <a:ext cx="3679031" cy="173236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 &lt; 0.001 ***</a:t>
            </a:r>
            <a:endParaRPr lang="en-US" sz="628" dirty="0"/>
          </a:p>
        </p:txBody>
      </p:sp>
      <p:sp>
        <p:nvSpPr>
          <p:cNvPr id="12" name="Shape 9"/>
          <p:cNvSpPr/>
          <p:nvPr/>
        </p:nvSpPr>
        <p:spPr>
          <a:xfrm>
            <a:off x="607219" y="2321719"/>
            <a:ext cx="1785938" cy="50542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607219" y="2321719"/>
            <a:ext cx="21431" cy="505420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692944" y="2407444"/>
            <a:ext cx="160377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PRs Merged</a:t>
            </a:r>
            <a:endParaRPr lang="en-US" sz="628" dirty="0"/>
          </a:p>
        </p:txBody>
      </p:sp>
      <p:sp>
        <p:nvSpPr>
          <p:cNvPr id="15" name="Text 12"/>
          <p:cNvSpPr/>
          <p:nvPr/>
        </p:nvSpPr>
        <p:spPr>
          <a:xfrm>
            <a:off x="692944" y="2566392"/>
            <a:ext cx="160377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752 chars</a:t>
            </a:r>
            <a:endParaRPr lang="en-US" sz="942" dirty="0"/>
          </a:p>
        </p:txBody>
      </p:sp>
      <p:sp>
        <p:nvSpPr>
          <p:cNvPr id="16" name="Shape 13"/>
          <p:cNvSpPr/>
          <p:nvPr/>
        </p:nvSpPr>
        <p:spPr>
          <a:xfrm>
            <a:off x="2489597" y="2321719"/>
            <a:ext cx="1796653" cy="50542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2489597" y="2321719"/>
            <a:ext cx="21431" cy="505420"/>
          </a:xfrm>
          <a:prstGeom prst="rect">
            <a:avLst/>
          </a:prstGeom>
          <a:solidFill>
            <a:srgbClr val="DA363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2586038" y="2407444"/>
            <a:ext cx="16144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PRs Closed</a:t>
            </a:r>
            <a:endParaRPr lang="en-US" sz="628" dirty="0"/>
          </a:p>
        </p:txBody>
      </p:sp>
      <p:sp>
        <p:nvSpPr>
          <p:cNvPr id="19" name="Text 16"/>
          <p:cNvSpPr/>
          <p:nvPr/>
        </p:nvSpPr>
        <p:spPr>
          <a:xfrm>
            <a:off x="2586038" y="2566392"/>
            <a:ext cx="16144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936 chars</a:t>
            </a:r>
            <a:endParaRPr lang="en-US" sz="942" dirty="0"/>
          </a:p>
        </p:txBody>
      </p:sp>
      <p:sp>
        <p:nvSpPr>
          <p:cNvPr id="20" name="Shape 17"/>
          <p:cNvSpPr/>
          <p:nvPr/>
        </p:nvSpPr>
        <p:spPr>
          <a:xfrm>
            <a:off x="607219" y="2970014"/>
            <a:ext cx="3679031" cy="854348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607219" y="2970014"/>
            <a:ext cx="21431" cy="854348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714375" y="3087886"/>
            <a:ext cx="72439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Interpretação:</a:t>
            </a:r>
            <a:endParaRPr lang="en-US" sz="732" dirty="0"/>
          </a:p>
        </p:txBody>
      </p:sp>
      <p:sp>
        <p:nvSpPr>
          <p:cNvPr id="23" name="Text 20"/>
          <p:cNvSpPr/>
          <p:nvPr/>
        </p:nvSpPr>
        <p:spPr>
          <a:xfrm>
            <a:off x="1438768" y="3087886"/>
            <a:ext cx="236650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Correlação negativa fraca porém significativa. PRs </a:t>
            </a:r>
            <a:endParaRPr lang="en-US" sz="732" dirty="0"/>
          </a:p>
        </p:txBody>
      </p:sp>
      <p:sp>
        <p:nvSpPr>
          <p:cNvPr id="24" name="Text 21"/>
          <p:cNvSpPr/>
          <p:nvPr/>
        </p:nvSpPr>
        <p:spPr>
          <a:xfrm>
            <a:off x="714375" y="3247895"/>
            <a:ext cx="19930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MERGED têm descrições 24% mais curtas</a:t>
            </a:r>
            <a:endParaRPr lang="en-US" sz="732" dirty="0"/>
          </a:p>
        </p:txBody>
      </p:sp>
      <p:sp>
        <p:nvSpPr>
          <p:cNvPr id="25" name="Text 22"/>
          <p:cNvSpPr/>
          <p:nvPr/>
        </p:nvSpPr>
        <p:spPr>
          <a:xfrm>
            <a:off x="2707425" y="3247895"/>
            <a:ext cx="140249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que PRs CLOSED, refutando a </a:t>
            </a:r>
            <a:endParaRPr lang="en-US" sz="732" dirty="0"/>
          </a:p>
        </p:txBody>
      </p:sp>
      <p:sp>
        <p:nvSpPr>
          <p:cNvPr id="26" name="Text 23"/>
          <p:cNvSpPr/>
          <p:nvPr/>
        </p:nvSpPr>
        <p:spPr>
          <a:xfrm>
            <a:off x="714375" y="3407904"/>
            <a:ext cx="33400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hipótese inicial de que descrições mais longas/detalhadas aumentam a </a:t>
            </a:r>
            <a:endParaRPr lang="en-US" sz="732" dirty="0"/>
          </a:p>
        </p:txBody>
      </p:sp>
      <p:sp>
        <p:nvSpPr>
          <p:cNvPr id="27" name="Text 24"/>
          <p:cNvSpPr/>
          <p:nvPr/>
        </p:nvSpPr>
        <p:spPr>
          <a:xfrm>
            <a:off x="714375" y="3567912"/>
            <a:ext cx="11582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probabilidade de merge. </a:t>
            </a:r>
            <a:endParaRPr lang="en-US" sz="732" dirty="0"/>
          </a:p>
        </p:txBody>
      </p:sp>
      <p:sp>
        <p:nvSpPr>
          <p:cNvPr id="28" name="Shape 25"/>
          <p:cNvSpPr/>
          <p:nvPr/>
        </p:nvSpPr>
        <p:spPr>
          <a:xfrm>
            <a:off x="4679156" y="955477"/>
            <a:ext cx="4036219" cy="3845793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6"/>
          <p:cNvSpPr/>
          <p:nvPr/>
        </p:nvSpPr>
        <p:spPr>
          <a:xfrm>
            <a:off x="4679156" y="955477"/>
            <a:ext cx="35719" cy="3845793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/>
          <p:nvPr/>
        </p:nvSpPr>
        <p:spPr>
          <a:xfrm>
            <a:off x="4857750" y="1134070"/>
            <a:ext cx="36790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RQ04: Interações vs Feedback Final</a:t>
            </a:r>
            <a:endParaRPr lang="en-US" sz="942" dirty="0"/>
          </a:p>
        </p:txBody>
      </p:sp>
      <p:sp>
        <p:nvSpPr>
          <p:cNvPr id="31" name="Text 28"/>
          <p:cNvSpPr/>
          <p:nvPr/>
        </p:nvSpPr>
        <p:spPr>
          <a:xfrm>
            <a:off x="4857750" y="1451967"/>
            <a:ext cx="367903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Correlação - Participantes</a:t>
            </a:r>
            <a:endParaRPr lang="en-US" sz="628" dirty="0"/>
          </a:p>
        </p:txBody>
      </p:sp>
      <p:sp>
        <p:nvSpPr>
          <p:cNvPr id="32" name="Text 29"/>
          <p:cNvSpPr/>
          <p:nvPr/>
        </p:nvSpPr>
        <p:spPr>
          <a:xfrm>
            <a:off x="4857750" y="1625203"/>
            <a:ext cx="367903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-0.0613</a:t>
            </a:r>
            <a:endParaRPr lang="en-US" sz="1046" dirty="0"/>
          </a:p>
        </p:txBody>
      </p:sp>
      <p:sp>
        <p:nvSpPr>
          <p:cNvPr id="33" name="Shape 30"/>
          <p:cNvSpPr/>
          <p:nvPr/>
        </p:nvSpPr>
        <p:spPr>
          <a:xfrm>
            <a:off x="4857750" y="1934170"/>
            <a:ext cx="3679031" cy="173236"/>
          </a:xfrm>
          <a:prstGeom prst="rect">
            <a:avLst/>
          </a:prstGeom>
          <a:solidFill>
            <a:srgbClr val="DA363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1"/>
          <p:cNvSpPr/>
          <p:nvPr/>
        </p:nvSpPr>
        <p:spPr>
          <a:xfrm>
            <a:off x="4857750" y="1934170"/>
            <a:ext cx="3679031" cy="173236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 &lt; 0.001 ***</a:t>
            </a:r>
            <a:endParaRPr lang="en-US" sz="628" dirty="0"/>
          </a:p>
        </p:txBody>
      </p:sp>
      <p:sp>
        <p:nvSpPr>
          <p:cNvPr id="35" name="Text 32"/>
          <p:cNvSpPr/>
          <p:nvPr/>
        </p:nvSpPr>
        <p:spPr>
          <a:xfrm>
            <a:off x="4857750" y="2250281"/>
            <a:ext cx="367903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Correlação - Comentários</a:t>
            </a:r>
            <a:endParaRPr lang="en-US" sz="628" dirty="0"/>
          </a:p>
        </p:txBody>
      </p:sp>
      <p:sp>
        <p:nvSpPr>
          <p:cNvPr id="36" name="Text 33"/>
          <p:cNvSpPr/>
          <p:nvPr/>
        </p:nvSpPr>
        <p:spPr>
          <a:xfrm>
            <a:off x="4857750" y="2423517"/>
            <a:ext cx="367903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-0.1828</a:t>
            </a:r>
            <a:endParaRPr lang="en-US" sz="1046" dirty="0"/>
          </a:p>
        </p:txBody>
      </p:sp>
      <p:sp>
        <p:nvSpPr>
          <p:cNvPr id="37" name="Shape 34"/>
          <p:cNvSpPr/>
          <p:nvPr/>
        </p:nvSpPr>
        <p:spPr>
          <a:xfrm>
            <a:off x="4857750" y="2732484"/>
            <a:ext cx="3679031" cy="173236"/>
          </a:xfrm>
          <a:prstGeom prst="rect">
            <a:avLst/>
          </a:prstGeom>
          <a:solidFill>
            <a:srgbClr val="DA363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5"/>
          <p:cNvSpPr/>
          <p:nvPr/>
        </p:nvSpPr>
        <p:spPr>
          <a:xfrm>
            <a:off x="4857750" y="2732484"/>
            <a:ext cx="3679031" cy="173236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 &lt; 0.001 ***</a:t>
            </a:r>
            <a:endParaRPr lang="en-US" sz="628" dirty="0"/>
          </a:p>
        </p:txBody>
      </p:sp>
      <p:sp>
        <p:nvSpPr>
          <p:cNvPr id="39" name="Shape 36"/>
          <p:cNvSpPr/>
          <p:nvPr/>
        </p:nvSpPr>
        <p:spPr>
          <a:xfrm>
            <a:off x="4857750" y="3120033"/>
            <a:ext cx="1785938" cy="50542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Shape 37"/>
          <p:cNvSpPr/>
          <p:nvPr/>
        </p:nvSpPr>
        <p:spPr>
          <a:xfrm>
            <a:off x="4857750" y="3120033"/>
            <a:ext cx="21431" cy="505420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8"/>
          <p:cNvSpPr/>
          <p:nvPr/>
        </p:nvSpPr>
        <p:spPr>
          <a:xfrm>
            <a:off x="4943475" y="3205758"/>
            <a:ext cx="160377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PRs Merged</a:t>
            </a:r>
            <a:endParaRPr lang="en-US" sz="628" dirty="0"/>
          </a:p>
        </p:txBody>
      </p:sp>
      <p:sp>
        <p:nvSpPr>
          <p:cNvPr id="42" name="Text 39"/>
          <p:cNvSpPr/>
          <p:nvPr/>
        </p:nvSpPr>
        <p:spPr>
          <a:xfrm>
            <a:off x="4943475" y="3364706"/>
            <a:ext cx="160377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comentário</a:t>
            </a:r>
            <a:endParaRPr lang="en-US" sz="942" dirty="0"/>
          </a:p>
        </p:txBody>
      </p:sp>
      <p:sp>
        <p:nvSpPr>
          <p:cNvPr id="43" name="Shape 40"/>
          <p:cNvSpPr/>
          <p:nvPr/>
        </p:nvSpPr>
        <p:spPr>
          <a:xfrm>
            <a:off x="6740128" y="3120033"/>
            <a:ext cx="1796653" cy="50542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Shape 41"/>
          <p:cNvSpPr/>
          <p:nvPr/>
        </p:nvSpPr>
        <p:spPr>
          <a:xfrm>
            <a:off x="6740128" y="3120033"/>
            <a:ext cx="21431" cy="505420"/>
          </a:xfrm>
          <a:prstGeom prst="rect">
            <a:avLst/>
          </a:prstGeom>
          <a:solidFill>
            <a:srgbClr val="DA363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2"/>
          <p:cNvSpPr/>
          <p:nvPr/>
        </p:nvSpPr>
        <p:spPr>
          <a:xfrm>
            <a:off x="6836569" y="3205758"/>
            <a:ext cx="16144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PRs Closed</a:t>
            </a:r>
            <a:endParaRPr lang="en-US" sz="628" dirty="0"/>
          </a:p>
        </p:txBody>
      </p:sp>
      <p:sp>
        <p:nvSpPr>
          <p:cNvPr id="46" name="Text 43"/>
          <p:cNvSpPr/>
          <p:nvPr/>
        </p:nvSpPr>
        <p:spPr>
          <a:xfrm>
            <a:off x="6836569" y="3364706"/>
            <a:ext cx="16144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comentários</a:t>
            </a:r>
            <a:endParaRPr lang="en-US" sz="942" dirty="0"/>
          </a:p>
        </p:txBody>
      </p:sp>
      <p:sp>
        <p:nvSpPr>
          <p:cNvPr id="47" name="Shape 44"/>
          <p:cNvSpPr/>
          <p:nvPr/>
        </p:nvSpPr>
        <p:spPr>
          <a:xfrm>
            <a:off x="4857750" y="3768328"/>
            <a:ext cx="3679031" cy="854348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Shape 45"/>
          <p:cNvSpPr/>
          <p:nvPr/>
        </p:nvSpPr>
        <p:spPr>
          <a:xfrm>
            <a:off x="4857750" y="3768328"/>
            <a:ext cx="21431" cy="854348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Text 46"/>
          <p:cNvSpPr/>
          <p:nvPr/>
        </p:nvSpPr>
        <p:spPr>
          <a:xfrm>
            <a:off x="4954190" y="3834062"/>
            <a:ext cx="3571875" cy="78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732" b="1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Interpretação</a:t>
            </a:r>
            <a:r>
              <a:rPr lang="en-US" sz="732" b="1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</a:t>
            </a: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732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Correlações</a:t>
            </a: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732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negativas</a:t>
            </a: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732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indicam</a:t>
            </a: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732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</a:t>
            </a: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732" b="1" dirty="0" err="1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menos</a:t>
            </a: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</a:t>
            </a:r>
            <a:r>
              <a:rPr lang="en-US" sz="732" b="1" dirty="0" err="1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participantes</a:t>
            </a:r>
            <a:r>
              <a:rPr lang="en-US" sz="732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 </a:t>
            </a:r>
            <a:r>
              <a:rPr lang="en-US" sz="732" b="1" dirty="0" err="1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comentários</a:t>
            </a:r>
            <a:r>
              <a:rPr lang="en-US" sz="732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732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correlacionam</a:t>
            </a: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 </a:t>
            </a:r>
            <a:r>
              <a:rPr lang="en-US" sz="732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maior</a:t>
            </a: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732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probabilidade</a:t>
            </a: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 MERGE, </a:t>
            </a:r>
            <a:r>
              <a:rPr lang="en-US" sz="732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confirmando</a:t>
            </a: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</a:t>
            </a:r>
            <a:r>
              <a:rPr lang="en-US" sz="732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hipótese</a:t>
            </a: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732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inicial</a:t>
            </a: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PRs com </a:t>
            </a:r>
            <a:r>
              <a:rPr lang="en-US" sz="732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muitas</a:t>
            </a: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732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interações</a:t>
            </a: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732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tendem</a:t>
            </a: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ser </a:t>
            </a:r>
            <a:r>
              <a:rPr lang="en-US" sz="732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rejeitadas</a:t>
            </a: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</a:t>
            </a:r>
            <a:endParaRPr lang="en-US" sz="732" dirty="0"/>
          </a:p>
          <a:p>
            <a:endParaRPr lang="en-US" sz="732" dirty="0"/>
          </a:p>
          <a:p>
            <a:endParaRPr lang="en-US" sz="732" dirty="0"/>
          </a:p>
          <a:p>
            <a:endParaRPr lang="en-US" sz="732" dirty="0"/>
          </a:p>
          <a:p>
            <a:pPr marL="0" indent="0">
              <a:buNone/>
            </a:pPr>
            <a:endParaRPr lang="en-US" sz="732" dirty="0"/>
          </a:p>
        </p:txBody>
      </p:sp>
      <p:sp>
        <p:nvSpPr>
          <p:cNvPr id="50" name="Text 47"/>
          <p:cNvSpPr/>
          <p:nvPr/>
        </p:nvSpPr>
        <p:spPr>
          <a:xfrm>
            <a:off x="5689299" y="3897735"/>
            <a:ext cx="65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732" dirty="0"/>
          </a:p>
        </p:txBody>
      </p:sp>
      <p:sp>
        <p:nvSpPr>
          <p:cNvPr id="51" name="Text 48"/>
          <p:cNvSpPr/>
          <p:nvPr/>
        </p:nvSpPr>
        <p:spPr>
          <a:xfrm>
            <a:off x="7379633" y="3897735"/>
            <a:ext cx="24046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endParaRPr lang="en-US" sz="732" dirty="0"/>
          </a:p>
        </p:txBody>
      </p:sp>
      <p:sp>
        <p:nvSpPr>
          <p:cNvPr id="52" name="Text 49"/>
          <p:cNvSpPr/>
          <p:nvPr/>
        </p:nvSpPr>
        <p:spPr>
          <a:xfrm>
            <a:off x="4964906" y="3977740"/>
            <a:ext cx="3416666" cy="112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732" dirty="0"/>
          </a:p>
        </p:txBody>
      </p:sp>
      <p:sp>
        <p:nvSpPr>
          <p:cNvPr id="53" name="Text 50"/>
          <p:cNvSpPr/>
          <p:nvPr/>
        </p:nvSpPr>
        <p:spPr>
          <a:xfrm>
            <a:off x="5661701" y="4057744"/>
            <a:ext cx="65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732" dirty="0"/>
          </a:p>
        </p:txBody>
      </p:sp>
      <p:sp>
        <p:nvSpPr>
          <p:cNvPr id="54" name="Text 51"/>
          <p:cNvSpPr/>
          <p:nvPr/>
        </p:nvSpPr>
        <p:spPr>
          <a:xfrm>
            <a:off x="4964906" y="4137749"/>
            <a:ext cx="3140320" cy="112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732" dirty="0"/>
          </a:p>
        </p:txBody>
      </p:sp>
      <p:sp>
        <p:nvSpPr>
          <p:cNvPr id="55" name="Text 52"/>
          <p:cNvSpPr/>
          <p:nvPr/>
        </p:nvSpPr>
        <p:spPr>
          <a:xfrm>
            <a:off x="4964906" y="4297758"/>
            <a:ext cx="3373552" cy="112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73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89359"/>
            <a:ext cx="9144000" cy="573285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4331" y="13394"/>
            <a:ext cx="42863" cy="285750"/>
          </a:xfrm>
          <a:prstGeom prst="round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514349" y="0"/>
            <a:ext cx="6234847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Dimensão B: Tamanho e Tempo vs Número de Revisões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364331" y="491132"/>
            <a:ext cx="8429625" cy="2300288"/>
          </a:xfrm>
          <a:prstGeom prst="rect">
            <a:avLst/>
          </a:prstGeom>
          <a:solidFill>
            <a:srgbClr val="161B22"/>
          </a:solidFill>
          <a:ln w="99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3"/>
          <p:cNvSpPr/>
          <p:nvPr/>
        </p:nvSpPr>
        <p:spPr>
          <a:xfrm>
            <a:off x="364331" y="2943225"/>
            <a:ext cx="4125516" cy="204847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4"/>
          <p:cNvSpPr/>
          <p:nvPr/>
        </p:nvSpPr>
        <p:spPr>
          <a:xfrm>
            <a:off x="364331" y="2943225"/>
            <a:ext cx="35719" cy="204847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5"/>
          <p:cNvSpPr/>
          <p:nvPr/>
        </p:nvSpPr>
        <p:spPr>
          <a:xfrm>
            <a:off x="507206" y="3086100"/>
            <a:ext cx="383976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RQ05: Tamanho vs Número de Revisões</a:t>
            </a:r>
            <a:endParaRPr lang="en-US" sz="837" dirty="0"/>
          </a:p>
        </p:txBody>
      </p:sp>
      <p:sp>
        <p:nvSpPr>
          <p:cNvPr id="10" name="Text 6"/>
          <p:cNvSpPr/>
          <p:nvPr/>
        </p:nvSpPr>
        <p:spPr>
          <a:xfrm>
            <a:off x="507206" y="3387031"/>
            <a:ext cx="95815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Correlação Spearman</a:t>
            </a:r>
            <a:endParaRPr lang="en-US" sz="680" dirty="0"/>
          </a:p>
        </p:txBody>
      </p:sp>
      <p:sp>
        <p:nvSpPr>
          <p:cNvPr id="11" name="Text 7"/>
          <p:cNvSpPr/>
          <p:nvPr/>
        </p:nvSpPr>
        <p:spPr>
          <a:xfrm>
            <a:off x="3921918" y="3384352"/>
            <a:ext cx="425053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088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+0.2259</a:t>
            </a:r>
            <a:endParaRPr lang="en-US" sz="732" dirty="0"/>
          </a:p>
        </p:txBody>
      </p:sp>
      <p:sp>
        <p:nvSpPr>
          <p:cNvPr id="12" name="Text 8"/>
          <p:cNvSpPr/>
          <p:nvPr/>
        </p:nvSpPr>
        <p:spPr>
          <a:xfrm>
            <a:off x="507206" y="3712071"/>
            <a:ext cx="55749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Significância</a:t>
            </a:r>
            <a:endParaRPr lang="en-US" sz="680" dirty="0"/>
          </a:p>
        </p:txBody>
      </p:sp>
      <p:sp>
        <p:nvSpPr>
          <p:cNvPr id="13" name="Text 9"/>
          <p:cNvSpPr/>
          <p:nvPr/>
        </p:nvSpPr>
        <p:spPr>
          <a:xfrm>
            <a:off x="3800474" y="3709392"/>
            <a:ext cx="546497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088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 &lt; 0.001</a:t>
            </a:r>
            <a:endParaRPr lang="en-US" sz="732" dirty="0"/>
          </a:p>
        </p:txBody>
      </p:sp>
      <p:sp>
        <p:nvSpPr>
          <p:cNvPr id="14" name="Text 10"/>
          <p:cNvSpPr/>
          <p:nvPr/>
        </p:nvSpPr>
        <p:spPr>
          <a:xfrm>
            <a:off x="507206" y="4037112"/>
            <a:ext cx="24202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Força</a:t>
            </a:r>
            <a:endParaRPr lang="en-US" sz="680" dirty="0"/>
          </a:p>
        </p:txBody>
      </p:sp>
      <p:sp>
        <p:nvSpPr>
          <p:cNvPr id="15" name="Text 11"/>
          <p:cNvSpPr/>
          <p:nvPr/>
        </p:nvSpPr>
        <p:spPr>
          <a:xfrm>
            <a:off x="3861196" y="4034433"/>
            <a:ext cx="485775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088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Moderada</a:t>
            </a:r>
            <a:endParaRPr lang="en-US" sz="732" dirty="0"/>
          </a:p>
        </p:txBody>
      </p:sp>
      <p:sp>
        <p:nvSpPr>
          <p:cNvPr id="16" name="Text 12"/>
          <p:cNvSpPr/>
          <p:nvPr/>
        </p:nvSpPr>
        <p:spPr>
          <a:xfrm>
            <a:off x="507206" y="4436269"/>
            <a:ext cx="163329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PRs maiores recebem mais revisões.</a:t>
            </a:r>
            <a:endParaRPr lang="en-US" sz="680" dirty="0"/>
          </a:p>
        </p:txBody>
      </p:sp>
      <p:sp>
        <p:nvSpPr>
          <p:cNvPr id="17" name="Text 13"/>
          <p:cNvSpPr/>
          <p:nvPr/>
        </p:nvSpPr>
        <p:spPr>
          <a:xfrm>
            <a:off x="2140501" y="4436269"/>
            <a:ext cx="195629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correlação positiva moderada indica que o </a:t>
            </a:r>
            <a:endParaRPr lang="en-US" sz="680" dirty="0"/>
          </a:p>
        </p:txBody>
      </p:sp>
      <p:sp>
        <p:nvSpPr>
          <p:cNvPr id="18" name="Text 14"/>
          <p:cNvSpPr/>
          <p:nvPr/>
        </p:nvSpPr>
        <p:spPr>
          <a:xfrm>
            <a:off x="507206" y="4575572"/>
            <a:ext cx="365310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tamanho do PR é um fator significativo na quantidade de revisões que ele recebe. O </a:t>
            </a:r>
            <a:endParaRPr lang="en-US" sz="680" dirty="0"/>
          </a:p>
        </p:txBody>
      </p:sp>
      <p:sp>
        <p:nvSpPr>
          <p:cNvPr id="19" name="Text 15"/>
          <p:cNvSpPr/>
          <p:nvPr/>
        </p:nvSpPr>
        <p:spPr>
          <a:xfrm>
            <a:off x="507206" y="4714875"/>
            <a:ext cx="379082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gráfico mostra claramente a dispersão de revisões aumentando com o tamanho do PR. </a:t>
            </a:r>
            <a:endParaRPr lang="en-US" sz="680" dirty="0"/>
          </a:p>
        </p:txBody>
      </p:sp>
      <p:sp>
        <p:nvSpPr>
          <p:cNvPr id="20" name="Shape 16"/>
          <p:cNvSpPr/>
          <p:nvPr/>
        </p:nvSpPr>
        <p:spPr>
          <a:xfrm>
            <a:off x="4668440" y="2943225"/>
            <a:ext cx="4125516" cy="204847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7"/>
          <p:cNvSpPr/>
          <p:nvPr/>
        </p:nvSpPr>
        <p:spPr>
          <a:xfrm>
            <a:off x="4668440" y="2943225"/>
            <a:ext cx="35719" cy="2048470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8"/>
          <p:cNvSpPr/>
          <p:nvPr/>
        </p:nvSpPr>
        <p:spPr>
          <a:xfrm>
            <a:off x="4811315" y="3086100"/>
            <a:ext cx="383976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23863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RQ06: Tempo vs Número de Revisões</a:t>
            </a:r>
            <a:endParaRPr lang="en-US" sz="837" dirty="0"/>
          </a:p>
        </p:txBody>
      </p:sp>
      <p:sp>
        <p:nvSpPr>
          <p:cNvPr id="23" name="Text 19"/>
          <p:cNvSpPr/>
          <p:nvPr/>
        </p:nvSpPr>
        <p:spPr>
          <a:xfrm>
            <a:off x="4811315" y="3387031"/>
            <a:ext cx="95815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Correlação Spearman</a:t>
            </a:r>
            <a:endParaRPr lang="en-US" sz="680" dirty="0"/>
          </a:p>
        </p:txBody>
      </p:sp>
      <p:sp>
        <p:nvSpPr>
          <p:cNvPr id="24" name="Text 20"/>
          <p:cNvSpPr/>
          <p:nvPr/>
        </p:nvSpPr>
        <p:spPr>
          <a:xfrm>
            <a:off x="8226027" y="3384352"/>
            <a:ext cx="425053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088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+0.2075</a:t>
            </a:r>
            <a:endParaRPr lang="en-US" sz="732" dirty="0"/>
          </a:p>
        </p:txBody>
      </p:sp>
      <p:sp>
        <p:nvSpPr>
          <p:cNvPr id="25" name="Text 21"/>
          <p:cNvSpPr/>
          <p:nvPr/>
        </p:nvSpPr>
        <p:spPr>
          <a:xfrm>
            <a:off x="4811315" y="3712071"/>
            <a:ext cx="55749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Significância</a:t>
            </a:r>
            <a:endParaRPr lang="en-US" sz="680" dirty="0"/>
          </a:p>
        </p:txBody>
      </p:sp>
      <p:sp>
        <p:nvSpPr>
          <p:cNvPr id="26" name="Text 22"/>
          <p:cNvSpPr/>
          <p:nvPr/>
        </p:nvSpPr>
        <p:spPr>
          <a:xfrm>
            <a:off x="8104584" y="3709392"/>
            <a:ext cx="546497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088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 &lt; 0.001</a:t>
            </a:r>
            <a:endParaRPr lang="en-US" sz="732" dirty="0"/>
          </a:p>
        </p:txBody>
      </p:sp>
      <p:sp>
        <p:nvSpPr>
          <p:cNvPr id="27" name="Text 23"/>
          <p:cNvSpPr/>
          <p:nvPr/>
        </p:nvSpPr>
        <p:spPr>
          <a:xfrm>
            <a:off x="4811315" y="4037112"/>
            <a:ext cx="24202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Força</a:t>
            </a:r>
            <a:endParaRPr lang="en-US" sz="680" dirty="0"/>
          </a:p>
        </p:txBody>
      </p:sp>
      <p:sp>
        <p:nvSpPr>
          <p:cNvPr id="28" name="Text 24"/>
          <p:cNvSpPr/>
          <p:nvPr/>
        </p:nvSpPr>
        <p:spPr>
          <a:xfrm>
            <a:off x="8165306" y="4034433"/>
            <a:ext cx="485775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088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Moderada</a:t>
            </a:r>
            <a:endParaRPr lang="en-US" sz="732" dirty="0"/>
          </a:p>
        </p:txBody>
      </p:sp>
      <p:sp>
        <p:nvSpPr>
          <p:cNvPr id="29" name="Text 25"/>
          <p:cNvSpPr/>
          <p:nvPr/>
        </p:nvSpPr>
        <p:spPr>
          <a:xfrm>
            <a:off x="4811315" y="4290382"/>
            <a:ext cx="3839765" cy="418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80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Mais revisões levam a tempos </a:t>
            </a:r>
            <a:r>
              <a:rPr lang="en-US" sz="680" b="1" dirty="0" err="1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maiores</a:t>
            </a:r>
            <a:r>
              <a:rPr lang="en-US" sz="680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</a:t>
            </a: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PRs </a:t>
            </a:r>
            <a:r>
              <a:rPr lang="en-US" sz="680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</a:t>
            </a: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680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permanecem</a:t>
            </a: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680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abertos</a:t>
            </a: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680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por</a:t>
            </a: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680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mais</a:t>
            </a: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tempo </a:t>
            </a:r>
            <a:r>
              <a:rPr lang="en-US" sz="680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recebem</a:t>
            </a: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680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mais</a:t>
            </a: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680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revisões</a:t>
            </a: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680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sugerindo</a:t>
            </a: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um </a:t>
            </a:r>
            <a:r>
              <a:rPr lang="en-US" sz="680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ciclo</a:t>
            </a: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 feedback </a:t>
            </a:r>
            <a:r>
              <a:rPr lang="en-US" sz="680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iterativo</a:t>
            </a: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680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onde</a:t>
            </a: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680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discussões</a:t>
            </a: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680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prolongadas</a:t>
            </a: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680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resultam</a:t>
            </a: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680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</a:t>
            </a: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680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múltiplas</a:t>
            </a: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680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rodadas</a:t>
            </a: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 </a:t>
            </a:r>
            <a:r>
              <a:rPr lang="en-US" sz="680" dirty="0" err="1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revisão</a:t>
            </a: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</a:t>
            </a:r>
            <a:endParaRPr lang="en-US" sz="680" dirty="0"/>
          </a:p>
          <a:p>
            <a:endParaRPr lang="en-US" sz="680" dirty="0"/>
          </a:p>
        </p:txBody>
      </p:sp>
      <p:sp>
        <p:nvSpPr>
          <p:cNvPr id="30" name="Text 26"/>
          <p:cNvSpPr/>
          <p:nvPr/>
        </p:nvSpPr>
        <p:spPr>
          <a:xfrm>
            <a:off x="6577607" y="4447348"/>
            <a:ext cx="65" cy="1046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680" dirty="0"/>
          </a:p>
        </p:txBody>
      </p:sp>
      <p:sp>
        <p:nvSpPr>
          <p:cNvPr id="31" name="Text 27"/>
          <p:cNvSpPr/>
          <p:nvPr/>
        </p:nvSpPr>
        <p:spPr>
          <a:xfrm>
            <a:off x="4811315" y="4516999"/>
            <a:ext cx="3820204" cy="104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680" dirty="0"/>
          </a:p>
        </p:txBody>
      </p:sp>
      <p:sp>
        <p:nvSpPr>
          <p:cNvPr id="32" name="Text 28"/>
          <p:cNvSpPr/>
          <p:nvPr/>
        </p:nvSpPr>
        <p:spPr>
          <a:xfrm>
            <a:off x="4811315" y="4656302"/>
            <a:ext cx="3552090" cy="104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680" dirty="0"/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F17A4E1E-8FF8-EAD9-A7FE-667A021AFC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0501" y="561346"/>
            <a:ext cx="4573013" cy="21598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Image 0" descr="preencoded.png">
            <a:extLst>
              <a:ext uri="{FF2B5EF4-FFF2-40B4-BE49-F238E27FC236}">
                <a16:creationId xmlns:a16="http://schemas.microsoft.com/office/drawing/2014/main" id="{F9BFEF94-B316-139F-E1DB-7AA28623D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89359"/>
            <a:ext cx="9144000" cy="573285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42020"/>
            <a:ext cx="42863" cy="285750"/>
          </a:xfrm>
          <a:prstGeom prst="round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578644" y="428625"/>
            <a:ext cx="6740519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Dimensão B: Descrição e Interações vs Número de Revisões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28625" y="1026914"/>
            <a:ext cx="4000500" cy="204847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428625" y="1026914"/>
            <a:ext cx="35719" cy="204847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571500" y="1169789"/>
            <a:ext cx="3714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RQ07: Descrição vs Número de Revisões</a:t>
            </a:r>
            <a:endParaRPr lang="en-US" sz="837" dirty="0"/>
          </a:p>
        </p:txBody>
      </p:sp>
      <p:sp>
        <p:nvSpPr>
          <p:cNvPr id="8" name="Text 5"/>
          <p:cNvSpPr/>
          <p:nvPr/>
        </p:nvSpPr>
        <p:spPr>
          <a:xfrm>
            <a:off x="571500" y="1470720"/>
            <a:ext cx="95815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Correlação Spearman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3861197" y="1468041"/>
            <a:ext cx="425053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088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+0.1697</a:t>
            </a:r>
            <a:endParaRPr lang="en-US" sz="732" dirty="0"/>
          </a:p>
        </p:txBody>
      </p:sp>
      <p:sp>
        <p:nvSpPr>
          <p:cNvPr id="10" name="Text 7"/>
          <p:cNvSpPr/>
          <p:nvPr/>
        </p:nvSpPr>
        <p:spPr>
          <a:xfrm>
            <a:off x="571500" y="1795760"/>
            <a:ext cx="55749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Significância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3739753" y="1793081"/>
            <a:ext cx="546497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088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 &lt; 0.001</a:t>
            </a:r>
            <a:endParaRPr lang="en-US" sz="732" dirty="0"/>
          </a:p>
        </p:txBody>
      </p:sp>
      <p:sp>
        <p:nvSpPr>
          <p:cNvPr id="12" name="Text 9"/>
          <p:cNvSpPr/>
          <p:nvPr/>
        </p:nvSpPr>
        <p:spPr>
          <a:xfrm>
            <a:off x="571500" y="2120801"/>
            <a:ext cx="24202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Força</a:t>
            </a:r>
            <a:endParaRPr lang="en-US" sz="680" dirty="0"/>
          </a:p>
        </p:txBody>
      </p:sp>
      <p:sp>
        <p:nvSpPr>
          <p:cNvPr id="13" name="Text 10"/>
          <p:cNvSpPr/>
          <p:nvPr/>
        </p:nvSpPr>
        <p:spPr>
          <a:xfrm>
            <a:off x="3982641" y="2118122"/>
            <a:ext cx="30360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088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Fraca</a:t>
            </a:r>
            <a:endParaRPr lang="en-US" sz="732" dirty="0"/>
          </a:p>
        </p:txBody>
      </p:sp>
      <p:sp>
        <p:nvSpPr>
          <p:cNvPr id="14" name="Text 11"/>
          <p:cNvSpPr/>
          <p:nvPr/>
        </p:nvSpPr>
        <p:spPr>
          <a:xfrm>
            <a:off x="571500" y="2519958"/>
            <a:ext cx="236695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PRs com descrições maiores recebem MAIS revisões.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2938453" y="2519958"/>
            <a:ext cx="108601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Refuta a hipótese inicial. 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571500" y="2659261"/>
            <a:ext cx="34527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Descrições mais longas podem indicar PRs mais complexas que requerem mais </a:t>
            </a:r>
            <a:endParaRPr lang="en-US" sz="680" dirty="0"/>
          </a:p>
        </p:txBody>
      </p:sp>
      <p:sp>
        <p:nvSpPr>
          <p:cNvPr id="17" name="Text 14"/>
          <p:cNvSpPr/>
          <p:nvPr/>
        </p:nvSpPr>
        <p:spPr>
          <a:xfrm>
            <a:off x="571500" y="2798564"/>
            <a:ext cx="4220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feedback. </a:t>
            </a:r>
            <a:endParaRPr lang="en-US" sz="680" dirty="0"/>
          </a:p>
        </p:txBody>
      </p:sp>
      <p:sp>
        <p:nvSpPr>
          <p:cNvPr id="18" name="Shape 15"/>
          <p:cNvSpPr/>
          <p:nvPr/>
        </p:nvSpPr>
        <p:spPr>
          <a:xfrm>
            <a:off x="4777383" y="886065"/>
            <a:ext cx="4000500" cy="223420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9" name="Shape 16"/>
          <p:cNvSpPr/>
          <p:nvPr/>
        </p:nvSpPr>
        <p:spPr>
          <a:xfrm>
            <a:off x="4777383" y="886065"/>
            <a:ext cx="35719" cy="2234208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4920258" y="1059593"/>
            <a:ext cx="3714750" cy="1288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RQ08: Interações vs Número de Revisões</a:t>
            </a:r>
            <a:endParaRPr lang="en-US" sz="837" dirty="0"/>
          </a:p>
        </p:txBody>
      </p:sp>
      <p:sp>
        <p:nvSpPr>
          <p:cNvPr id="21" name="Text 18"/>
          <p:cNvSpPr/>
          <p:nvPr/>
        </p:nvSpPr>
        <p:spPr>
          <a:xfrm>
            <a:off x="4920258" y="1340950"/>
            <a:ext cx="584253" cy="104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Participantes</a:t>
            </a:r>
            <a:endParaRPr lang="en-US" sz="680" dirty="0"/>
          </a:p>
        </p:txBody>
      </p:sp>
      <p:sp>
        <p:nvSpPr>
          <p:cNvPr id="22" name="Text 19"/>
          <p:cNvSpPr/>
          <p:nvPr/>
        </p:nvSpPr>
        <p:spPr>
          <a:xfrm>
            <a:off x="8209955" y="1350173"/>
            <a:ext cx="425053" cy="112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088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+0.4299</a:t>
            </a:r>
            <a:endParaRPr lang="en-US" sz="732" dirty="0"/>
          </a:p>
        </p:txBody>
      </p:sp>
      <p:sp>
        <p:nvSpPr>
          <p:cNvPr id="23" name="Text 20"/>
          <p:cNvSpPr/>
          <p:nvPr/>
        </p:nvSpPr>
        <p:spPr>
          <a:xfrm>
            <a:off x="4920258" y="1665990"/>
            <a:ext cx="570216" cy="104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Comentários</a:t>
            </a:r>
            <a:endParaRPr lang="en-US" sz="680" dirty="0"/>
          </a:p>
        </p:txBody>
      </p:sp>
      <p:sp>
        <p:nvSpPr>
          <p:cNvPr id="24" name="Text 21"/>
          <p:cNvSpPr/>
          <p:nvPr/>
        </p:nvSpPr>
        <p:spPr>
          <a:xfrm>
            <a:off x="8209955" y="1675214"/>
            <a:ext cx="425053" cy="112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088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+0.4906</a:t>
            </a:r>
            <a:endParaRPr lang="en-US" sz="732" dirty="0"/>
          </a:p>
        </p:txBody>
      </p:sp>
      <p:sp>
        <p:nvSpPr>
          <p:cNvPr id="25" name="Text 22"/>
          <p:cNvSpPr/>
          <p:nvPr/>
        </p:nvSpPr>
        <p:spPr>
          <a:xfrm>
            <a:off x="4920258" y="1991031"/>
            <a:ext cx="557492" cy="104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Significância</a:t>
            </a:r>
            <a:endParaRPr lang="en-US" sz="680" dirty="0"/>
          </a:p>
        </p:txBody>
      </p:sp>
      <p:sp>
        <p:nvSpPr>
          <p:cNvPr id="26" name="Text 23"/>
          <p:cNvSpPr/>
          <p:nvPr/>
        </p:nvSpPr>
        <p:spPr>
          <a:xfrm>
            <a:off x="8088511" y="2000254"/>
            <a:ext cx="546497" cy="112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088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 &lt; 0.001</a:t>
            </a:r>
            <a:endParaRPr lang="en-US" sz="732" dirty="0"/>
          </a:p>
        </p:txBody>
      </p:sp>
      <p:sp>
        <p:nvSpPr>
          <p:cNvPr id="27" name="Text 24"/>
          <p:cNvSpPr/>
          <p:nvPr/>
        </p:nvSpPr>
        <p:spPr>
          <a:xfrm>
            <a:off x="4920258" y="2316072"/>
            <a:ext cx="242022" cy="104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Força</a:t>
            </a:r>
            <a:endParaRPr lang="en-US" sz="680" dirty="0"/>
          </a:p>
        </p:txBody>
      </p:sp>
      <p:sp>
        <p:nvSpPr>
          <p:cNvPr id="28" name="Text 25"/>
          <p:cNvSpPr/>
          <p:nvPr/>
        </p:nvSpPr>
        <p:spPr>
          <a:xfrm>
            <a:off x="8331399" y="2325295"/>
            <a:ext cx="303609" cy="112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088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Forte</a:t>
            </a:r>
            <a:endParaRPr lang="en-US" sz="732" dirty="0"/>
          </a:p>
        </p:txBody>
      </p:sp>
      <p:sp>
        <p:nvSpPr>
          <p:cNvPr id="29" name="Text 26"/>
          <p:cNvSpPr/>
          <p:nvPr/>
        </p:nvSpPr>
        <p:spPr>
          <a:xfrm>
            <a:off x="4920258" y="2715229"/>
            <a:ext cx="1280015" cy="104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Correlações fortes positivas.</a:t>
            </a:r>
            <a:endParaRPr lang="en-US" sz="680" dirty="0"/>
          </a:p>
        </p:txBody>
      </p:sp>
      <p:sp>
        <p:nvSpPr>
          <p:cNvPr id="30" name="Text 27"/>
          <p:cNvSpPr/>
          <p:nvPr/>
        </p:nvSpPr>
        <p:spPr>
          <a:xfrm>
            <a:off x="6200273" y="2715229"/>
            <a:ext cx="2348843" cy="104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Mais interações levam a muito mais revisões. Este é o </a:t>
            </a:r>
            <a:endParaRPr lang="en-US" sz="680" dirty="0"/>
          </a:p>
        </p:txBody>
      </p:sp>
      <p:sp>
        <p:nvSpPr>
          <p:cNvPr id="31" name="Text 28"/>
          <p:cNvSpPr/>
          <p:nvPr/>
        </p:nvSpPr>
        <p:spPr>
          <a:xfrm>
            <a:off x="4920258" y="2854532"/>
            <a:ext cx="2556793" cy="104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fator mais determinante no número de revisões recebidas. </a:t>
            </a:r>
            <a:endParaRPr lang="en-US" sz="680" dirty="0"/>
          </a:p>
        </p:txBody>
      </p:sp>
      <p:sp>
        <p:nvSpPr>
          <p:cNvPr id="32" name="Shape 29"/>
          <p:cNvSpPr/>
          <p:nvPr/>
        </p:nvSpPr>
        <p:spPr>
          <a:xfrm>
            <a:off x="489035" y="3332558"/>
            <a:ext cx="4000500" cy="1619845"/>
          </a:xfrm>
          <a:prstGeom prst="rect">
            <a:avLst/>
          </a:prstGeom>
          <a:solidFill>
            <a:srgbClr val="161B22"/>
          </a:solidFill>
          <a:ln w="99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/>
          <p:nvPr/>
        </p:nvSpPr>
        <p:spPr>
          <a:xfrm>
            <a:off x="631910" y="3475433"/>
            <a:ext cx="3714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Comparação de Força das Correlações</a:t>
            </a:r>
            <a:endParaRPr lang="en-US" sz="732" dirty="0"/>
          </a:p>
        </p:txBody>
      </p:sp>
      <p:sp>
        <p:nvSpPr>
          <p:cNvPr id="34" name="Text 31"/>
          <p:cNvSpPr/>
          <p:nvPr/>
        </p:nvSpPr>
        <p:spPr>
          <a:xfrm>
            <a:off x="631910" y="3718321"/>
            <a:ext cx="37147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RQ07: Descrição</a:t>
            </a:r>
            <a:endParaRPr lang="en-US" sz="628" dirty="0"/>
          </a:p>
        </p:txBody>
      </p:sp>
      <p:sp>
        <p:nvSpPr>
          <p:cNvPr id="35" name="Shape 32"/>
          <p:cNvSpPr/>
          <p:nvPr/>
        </p:nvSpPr>
        <p:spPr>
          <a:xfrm>
            <a:off x="631910" y="3877269"/>
            <a:ext cx="3336131" cy="142875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Shape 33"/>
          <p:cNvSpPr/>
          <p:nvPr/>
        </p:nvSpPr>
        <p:spPr>
          <a:xfrm>
            <a:off x="631910" y="3877269"/>
            <a:ext cx="1167640" cy="142875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4"/>
          <p:cNvSpPr/>
          <p:nvPr/>
        </p:nvSpPr>
        <p:spPr>
          <a:xfrm>
            <a:off x="631910" y="3877269"/>
            <a:ext cx="1167640" cy="142875"/>
          </a:xfrm>
          <a:prstGeom prst="rect">
            <a:avLst/>
          </a:prstGeom>
          <a:noFill/>
          <a:ln/>
        </p:spPr>
        <p:txBody>
          <a:bodyPr wrap="square" lIns="0" tIns="0" rIns="51054" bIns="0" rtlCol="0" anchor="ctr">
            <a:spAutoFit/>
          </a:bodyPr>
          <a:lstStyle/>
          <a:p>
            <a:pPr marL="0" indent="0">
              <a:buNone/>
            </a:pPr>
            <a:r>
              <a:rPr lang="en-US" sz="52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0.170</a:t>
            </a:r>
            <a:endParaRPr lang="en-US" sz="523" dirty="0"/>
          </a:p>
        </p:txBody>
      </p:sp>
      <p:sp>
        <p:nvSpPr>
          <p:cNvPr id="38" name="Text 35"/>
          <p:cNvSpPr/>
          <p:nvPr/>
        </p:nvSpPr>
        <p:spPr>
          <a:xfrm>
            <a:off x="4025191" y="3890664"/>
            <a:ext cx="32146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r">
              <a:buNone/>
            </a:pPr>
            <a:r>
              <a:rPr lang="en-US" sz="628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0.170</a:t>
            </a:r>
            <a:endParaRPr lang="en-US" sz="628" dirty="0"/>
          </a:p>
        </p:txBody>
      </p:sp>
      <p:sp>
        <p:nvSpPr>
          <p:cNvPr id="39" name="Text 36"/>
          <p:cNvSpPr/>
          <p:nvPr/>
        </p:nvSpPr>
        <p:spPr>
          <a:xfrm>
            <a:off x="631910" y="4105869"/>
            <a:ext cx="37147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RQ08: Participantes</a:t>
            </a:r>
            <a:endParaRPr lang="en-US" sz="628" dirty="0"/>
          </a:p>
        </p:txBody>
      </p:sp>
      <p:sp>
        <p:nvSpPr>
          <p:cNvPr id="40" name="Shape 37"/>
          <p:cNvSpPr/>
          <p:nvPr/>
        </p:nvSpPr>
        <p:spPr>
          <a:xfrm>
            <a:off x="631910" y="4264817"/>
            <a:ext cx="3336131" cy="142875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Shape 38"/>
          <p:cNvSpPr/>
          <p:nvPr/>
        </p:nvSpPr>
        <p:spPr>
          <a:xfrm>
            <a:off x="631910" y="4264817"/>
            <a:ext cx="2935774" cy="142875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39"/>
          <p:cNvSpPr/>
          <p:nvPr/>
        </p:nvSpPr>
        <p:spPr>
          <a:xfrm>
            <a:off x="631910" y="4264817"/>
            <a:ext cx="2935774" cy="142875"/>
          </a:xfrm>
          <a:prstGeom prst="rect">
            <a:avLst/>
          </a:prstGeom>
          <a:noFill/>
          <a:ln/>
        </p:spPr>
        <p:txBody>
          <a:bodyPr wrap="square" lIns="0" tIns="0" rIns="51054" bIns="0" rtlCol="0" anchor="ctr">
            <a:spAutoFit/>
          </a:bodyPr>
          <a:lstStyle/>
          <a:p>
            <a:pPr marL="0" indent="0">
              <a:buNone/>
            </a:pPr>
            <a:r>
              <a:rPr lang="en-US" sz="52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0.430</a:t>
            </a:r>
            <a:endParaRPr lang="en-US" sz="523" dirty="0"/>
          </a:p>
        </p:txBody>
      </p:sp>
      <p:sp>
        <p:nvSpPr>
          <p:cNvPr id="43" name="Text 40"/>
          <p:cNvSpPr/>
          <p:nvPr/>
        </p:nvSpPr>
        <p:spPr>
          <a:xfrm>
            <a:off x="4025191" y="4278212"/>
            <a:ext cx="32146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r">
              <a:buNone/>
            </a:pPr>
            <a:r>
              <a:rPr lang="en-US" sz="628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0.430</a:t>
            </a:r>
            <a:endParaRPr lang="en-US" sz="628" dirty="0"/>
          </a:p>
        </p:txBody>
      </p:sp>
      <p:sp>
        <p:nvSpPr>
          <p:cNvPr id="44" name="Text 41"/>
          <p:cNvSpPr/>
          <p:nvPr/>
        </p:nvSpPr>
        <p:spPr>
          <a:xfrm>
            <a:off x="631910" y="4493417"/>
            <a:ext cx="37147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8B94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RQ08: Comentários</a:t>
            </a:r>
            <a:endParaRPr lang="en-US" sz="628" dirty="0"/>
          </a:p>
        </p:txBody>
      </p:sp>
      <p:sp>
        <p:nvSpPr>
          <p:cNvPr id="45" name="Shape 42"/>
          <p:cNvSpPr/>
          <p:nvPr/>
        </p:nvSpPr>
        <p:spPr>
          <a:xfrm>
            <a:off x="631910" y="4652366"/>
            <a:ext cx="3336131" cy="142875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Shape 43"/>
          <p:cNvSpPr/>
          <p:nvPr/>
        </p:nvSpPr>
        <p:spPr>
          <a:xfrm>
            <a:off x="631910" y="4652366"/>
            <a:ext cx="3336131" cy="142875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4"/>
          <p:cNvSpPr/>
          <p:nvPr/>
        </p:nvSpPr>
        <p:spPr>
          <a:xfrm>
            <a:off x="631910" y="4652366"/>
            <a:ext cx="3336131" cy="142875"/>
          </a:xfrm>
          <a:prstGeom prst="rect">
            <a:avLst/>
          </a:prstGeom>
          <a:noFill/>
          <a:ln/>
        </p:spPr>
        <p:txBody>
          <a:bodyPr wrap="square" lIns="0" tIns="0" rIns="51054" bIns="0" rtlCol="0" anchor="ctr">
            <a:spAutoFit/>
          </a:bodyPr>
          <a:lstStyle/>
          <a:p>
            <a:pPr marL="0" indent="0">
              <a:buNone/>
            </a:pPr>
            <a:r>
              <a:rPr lang="en-US" sz="52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0.491</a:t>
            </a:r>
            <a:endParaRPr lang="en-US" sz="523" dirty="0"/>
          </a:p>
        </p:txBody>
      </p:sp>
      <p:sp>
        <p:nvSpPr>
          <p:cNvPr id="48" name="Text 45"/>
          <p:cNvSpPr/>
          <p:nvPr/>
        </p:nvSpPr>
        <p:spPr>
          <a:xfrm>
            <a:off x="4025191" y="4665760"/>
            <a:ext cx="32146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r">
              <a:buNone/>
            </a:pPr>
            <a:r>
              <a:rPr lang="en-US" sz="628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0.491</a:t>
            </a:r>
            <a:endParaRPr lang="en-US" sz="628" dirty="0"/>
          </a:p>
        </p:txBody>
      </p:sp>
      <p:sp>
        <p:nvSpPr>
          <p:cNvPr id="49" name="Shape 46"/>
          <p:cNvSpPr/>
          <p:nvPr/>
        </p:nvSpPr>
        <p:spPr>
          <a:xfrm>
            <a:off x="4733550" y="4294285"/>
            <a:ext cx="4000500" cy="632222"/>
          </a:xfrm>
          <a:prstGeom prst="rect">
            <a:avLst/>
          </a:prstGeom>
          <a:solidFill>
            <a:srgbClr val="1F6FEB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Shape 47"/>
          <p:cNvSpPr/>
          <p:nvPr/>
        </p:nvSpPr>
        <p:spPr>
          <a:xfrm>
            <a:off x="4733550" y="4294285"/>
            <a:ext cx="28575" cy="632222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Text 48"/>
          <p:cNvSpPr/>
          <p:nvPr/>
        </p:nvSpPr>
        <p:spPr>
          <a:xfrm>
            <a:off x="4840706" y="4406799"/>
            <a:ext cx="68585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Insight Crítico:</a:t>
            </a:r>
            <a:endParaRPr lang="en-US" sz="680" dirty="0"/>
          </a:p>
        </p:txBody>
      </p:sp>
      <p:sp>
        <p:nvSpPr>
          <p:cNvPr id="52" name="Text 49"/>
          <p:cNvSpPr/>
          <p:nvPr/>
        </p:nvSpPr>
        <p:spPr>
          <a:xfrm>
            <a:off x="5526562" y="4406799"/>
            <a:ext cx="135229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 número de comentários é o </a:t>
            </a:r>
            <a:endParaRPr lang="en-US" sz="680" dirty="0"/>
          </a:p>
        </p:txBody>
      </p:sp>
      <p:sp>
        <p:nvSpPr>
          <p:cNvPr id="53" name="Text 50"/>
          <p:cNvSpPr/>
          <p:nvPr/>
        </p:nvSpPr>
        <p:spPr>
          <a:xfrm>
            <a:off x="6878852" y="4406799"/>
            <a:ext cx="111537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fator mais determinante</a:t>
            </a:r>
            <a:endParaRPr lang="en-US" sz="680" dirty="0"/>
          </a:p>
        </p:txBody>
      </p:sp>
      <p:sp>
        <p:nvSpPr>
          <p:cNvPr id="54" name="Text 51"/>
          <p:cNvSpPr/>
          <p:nvPr/>
        </p:nvSpPr>
        <p:spPr>
          <a:xfrm>
            <a:off x="7994225" y="4406799"/>
            <a:ext cx="30229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para o </a:t>
            </a:r>
            <a:endParaRPr lang="en-US" sz="680" dirty="0"/>
          </a:p>
        </p:txBody>
      </p:sp>
      <p:sp>
        <p:nvSpPr>
          <p:cNvPr id="55" name="Text 52"/>
          <p:cNvSpPr/>
          <p:nvPr/>
        </p:nvSpPr>
        <p:spPr>
          <a:xfrm>
            <a:off x="4840706" y="4546102"/>
            <a:ext cx="346700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número de revisões. PRs com muita discussão recebem significativamente mais </a:t>
            </a:r>
            <a:endParaRPr lang="en-US" sz="680" dirty="0"/>
          </a:p>
        </p:txBody>
      </p:sp>
      <p:sp>
        <p:nvSpPr>
          <p:cNvPr id="56" name="Text 53"/>
          <p:cNvSpPr/>
          <p:nvPr/>
        </p:nvSpPr>
        <p:spPr>
          <a:xfrm>
            <a:off x="4840706" y="4685405"/>
            <a:ext cx="254769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revisões, sugerindo um ciclo de feedback iterativo intenso. 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710A7-58F7-3398-D102-E6816F63C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67D4186-7E60-CF5E-24D3-8B34E071B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10162E09-1543-2A63-0A5F-EDD9BCE7C912}"/>
              </a:ext>
            </a:extLst>
          </p:cNvPr>
          <p:cNvSpPr/>
          <p:nvPr/>
        </p:nvSpPr>
        <p:spPr>
          <a:xfrm>
            <a:off x="428625" y="442020"/>
            <a:ext cx="42863" cy="285750"/>
          </a:xfrm>
          <a:prstGeom prst="round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ED4020A-B5DF-C15F-6152-AF3D7039A3B7}"/>
              </a:ext>
            </a:extLst>
          </p:cNvPr>
          <p:cNvSpPr/>
          <p:nvPr/>
        </p:nvSpPr>
        <p:spPr>
          <a:xfrm>
            <a:off x="578644" y="428625"/>
            <a:ext cx="665867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Padrões Identificados: Hipóteses Confirmadas e Refutadas</a:t>
            </a:r>
            <a:endParaRPr lang="en-US" sz="1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7AF7539-E08D-D21A-87AE-C5CDF056F7D5}"/>
              </a:ext>
            </a:extLst>
          </p:cNvPr>
          <p:cNvSpPr/>
          <p:nvPr/>
        </p:nvSpPr>
        <p:spPr>
          <a:xfrm>
            <a:off x="417854" y="826952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✅</a:t>
            </a:r>
            <a:endParaRPr lang="en-US" sz="13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46EB39D-AC2A-110C-F086-F5F0B1F00491}"/>
              </a:ext>
            </a:extLst>
          </p:cNvPr>
          <p:cNvSpPr/>
          <p:nvPr/>
        </p:nvSpPr>
        <p:spPr>
          <a:xfrm>
            <a:off x="717892" y="856420"/>
            <a:ext cx="145754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23863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Hipóteses Confirmadas</a:t>
            </a:r>
            <a:endParaRPr lang="en-US" sz="942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33E48C75-E7CC-F3AA-6431-4609EF124306}"/>
              </a:ext>
            </a:extLst>
          </p:cNvPr>
          <p:cNvSpPr/>
          <p:nvPr/>
        </p:nvSpPr>
        <p:spPr>
          <a:xfrm>
            <a:off x="4714875" y="826917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❌</a:t>
            </a:r>
            <a:endParaRPr lang="en-US" sz="13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C3CD35FA-FE1F-24CC-6EA6-C8DC7051C785}"/>
              </a:ext>
            </a:extLst>
          </p:cNvPr>
          <p:cNvSpPr/>
          <p:nvPr/>
        </p:nvSpPr>
        <p:spPr>
          <a:xfrm>
            <a:off x="5014913" y="856385"/>
            <a:ext cx="128961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DA36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Hipóteses Refutadas</a:t>
            </a:r>
            <a:endParaRPr lang="en-US" sz="942" dirty="0"/>
          </a:p>
        </p:txBody>
      </p:sp>
      <p:sp>
        <p:nvSpPr>
          <p:cNvPr id="58" name="Shape 28"/>
          <p:cNvSpPr/>
          <p:nvPr/>
        </p:nvSpPr>
        <p:spPr>
          <a:xfrm>
            <a:off x="417854" y="4013833"/>
            <a:ext cx="4000500" cy="791477"/>
          </a:xfrm>
          <a:prstGeom prst="rect">
            <a:avLst/>
          </a:prstGeom>
          <a:solidFill>
            <a:srgbClr val="0D1117"/>
          </a:solidFill>
          <a:ln w="99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59" name="Text 29"/>
          <p:cNvSpPr/>
          <p:nvPr/>
        </p:nvSpPr>
        <p:spPr>
          <a:xfrm>
            <a:off x="577849" y="4198135"/>
            <a:ext cx="3714750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Implicação</a:t>
            </a:r>
            <a:endParaRPr lang="en-US" sz="628" dirty="0"/>
          </a:p>
        </p:txBody>
      </p:sp>
      <p:sp>
        <p:nvSpPr>
          <p:cNvPr id="60" name="Text 30"/>
          <p:cNvSpPr/>
          <p:nvPr/>
        </p:nvSpPr>
        <p:spPr>
          <a:xfrm>
            <a:off x="577849" y="4403155"/>
            <a:ext cx="368051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Velocidade e agilidade são fatores críticos. PRs simples e rápidos têm maior sucesso. </a:t>
            </a:r>
            <a:endParaRPr lang="en-US" sz="680" dirty="0"/>
          </a:p>
        </p:txBody>
      </p:sp>
      <p:sp>
        <p:nvSpPr>
          <p:cNvPr id="61" name="Shape 51"/>
          <p:cNvSpPr/>
          <p:nvPr/>
        </p:nvSpPr>
        <p:spPr>
          <a:xfrm>
            <a:off x="4714875" y="4053820"/>
            <a:ext cx="4000500" cy="791477"/>
          </a:xfrm>
          <a:prstGeom prst="rect">
            <a:avLst/>
          </a:prstGeom>
          <a:solidFill>
            <a:srgbClr val="0D1117"/>
          </a:solidFill>
          <a:ln w="99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2" name="Text 52"/>
          <p:cNvSpPr/>
          <p:nvPr/>
        </p:nvSpPr>
        <p:spPr>
          <a:xfrm>
            <a:off x="4857750" y="4196695"/>
            <a:ext cx="3714750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Implicação</a:t>
            </a:r>
            <a:endParaRPr lang="en-US" sz="628" dirty="0"/>
          </a:p>
        </p:txBody>
      </p:sp>
      <p:sp>
        <p:nvSpPr>
          <p:cNvPr id="63" name="Text 53"/>
          <p:cNvSpPr/>
          <p:nvPr/>
        </p:nvSpPr>
        <p:spPr>
          <a:xfrm>
            <a:off x="4857750" y="4401715"/>
            <a:ext cx="34800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Detalhamento excessivo não garante sucesso. Foco, clareza e concisão são mais </a:t>
            </a:r>
            <a:endParaRPr lang="en-US" sz="680" dirty="0"/>
          </a:p>
        </p:txBody>
      </p:sp>
      <p:sp>
        <p:nvSpPr>
          <p:cNvPr id="64" name="Text 54"/>
          <p:cNvSpPr/>
          <p:nvPr/>
        </p:nvSpPr>
        <p:spPr>
          <a:xfrm>
            <a:off x="4857750" y="4550283"/>
            <a:ext cx="189295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valorizados que quantidade de informação. </a:t>
            </a:r>
            <a:endParaRPr lang="en-US" sz="680" dirty="0"/>
          </a:p>
        </p:txBody>
      </p: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640B9E71-A8A9-7CDE-4CC6-A73BEFEEEE81}"/>
              </a:ext>
            </a:extLst>
          </p:cNvPr>
          <p:cNvGrpSpPr/>
          <p:nvPr/>
        </p:nvGrpSpPr>
        <p:grpSpPr>
          <a:xfrm>
            <a:off x="4742410" y="1255943"/>
            <a:ext cx="4000500" cy="598987"/>
            <a:chOff x="4714875" y="1489472"/>
            <a:chExt cx="4000500" cy="847232"/>
          </a:xfrm>
        </p:grpSpPr>
        <p:sp>
          <p:nvSpPr>
            <p:cNvPr id="66" name="Shape 33">
              <a:extLst>
                <a:ext uri="{FF2B5EF4-FFF2-40B4-BE49-F238E27FC236}">
                  <a16:creationId xmlns:a16="http://schemas.microsoft.com/office/drawing/2014/main" id="{E74AD160-7D36-56E2-046C-33FFF0FB3198}"/>
                </a:ext>
              </a:extLst>
            </p:cNvPr>
            <p:cNvSpPr/>
            <p:nvPr/>
          </p:nvSpPr>
          <p:spPr>
            <a:xfrm>
              <a:off x="4714875" y="1489472"/>
              <a:ext cx="4000500" cy="847232"/>
            </a:xfrm>
            <a:prstGeom prst="rect">
              <a:avLst/>
            </a:prstGeom>
            <a:solidFill>
              <a:srgbClr val="161B22"/>
            </a:solidFill>
            <a:ln/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67" name="Shape 34">
              <a:extLst>
                <a:ext uri="{FF2B5EF4-FFF2-40B4-BE49-F238E27FC236}">
                  <a16:creationId xmlns:a16="http://schemas.microsoft.com/office/drawing/2014/main" id="{F255EC18-35AA-8CD4-0E3A-38A7F853B347}"/>
                </a:ext>
              </a:extLst>
            </p:cNvPr>
            <p:cNvSpPr/>
            <p:nvPr/>
          </p:nvSpPr>
          <p:spPr>
            <a:xfrm>
              <a:off x="4714875" y="1489472"/>
              <a:ext cx="35719" cy="847232"/>
            </a:xfrm>
            <a:prstGeom prst="rect">
              <a:avLst/>
            </a:prstGeom>
            <a:solidFill>
              <a:srgbClr val="DA3633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68" name="Text 35">
              <a:extLst>
                <a:ext uri="{FF2B5EF4-FFF2-40B4-BE49-F238E27FC236}">
                  <a16:creationId xmlns:a16="http://schemas.microsoft.com/office/drawing/2014/main" id="{1F94F582-387F-A2CC-C1D5-2D2840043B7E}"/>
                </a:ext>
              </a:extLst>
            </p:cNvPr>
            <p:cNvSpPr/>
            <p:nvPr/>
          </p:nvSpPr>
          <p:spPr>
            <a:xfrm>
              <a:off x="4843463" y="1618059"/>
              <a:ext cx="3743325" cy="1160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628" b="1" dirty="0">
                  <a:solidFill>
                    <a:srgbClr val="8B949E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RQ01</a:t>
              </a:r>
              <a:endParaRPr lang="en-US" sz="628" dirty="0"/>
            </a:p>
          </p:txBody>
        </p:sp>
        <p:sp>
          <p:nvSpPr>
            <p:cNvPr id="69" name="Text 36">
              <a:extLst>
                <a:ext uri="{FF2B5EF4-FFF2-40B4-BE49-F238E27FC236}">
                  <a16:creationId xmlns:a16="http://schemas.microsoft.com/office/drawing/2014/main" id="{0EC87E91-4E1E-6D2B-AE99-9B5A5BEB6039}"/>
                </a:ext>
              </a:extLst>
            </p:cNvPr>
            <p:cNvSpPr/>
            <p:nvPr/>
          </p:nvSpPr>
          <p:spPr>
            <a:xfrm>
              <a:off x="4843463" y="1805583"/>
              <a:ext cx="3743325" cy="1400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732" b="1" dirty="0">
                  <a:solidFill>
                    <a:srgbClr val="C9D1D9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Tamanho não determina aceitação</a:t>
              </a:r>
              <a:endParaRPr lang="en-US" sz="732" dirty="0"/>
            </a:p>
          </p:txBody>
        </p:sp>
        <p:sp>
          <p:nvSpPr>
            <p:cNvPr id="70" name="Text 37">
              <a:extLst>
                <a:ext uri="{FF2B5EF4-FFF2-40B4-BE49-F238E27FC236}">
                  <a16:creationId xmlns:a16="http://schemas.microsoft.com/office/drawing/2014/main" id="{3D6825D9-2085-48E5-521D-8737A3F387C0}"/>
                </a:ext>
              </a:extLst>
            </p:cNvPr>
            <p:cNvSpPr/>
            <p:nvPr/>
          </p:nvSpPr>
          <p:spPr>
            <a:xfrm>
              <a:off x="4843463" y="2081315"/>
              <a:ext cx="3314700" cy="1268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PRs merged são maiores</a:t>
              </a:r>
              <a:endParaRPr lang="en-US" sz="680" dirty="0"/>
            </a:p>
          </p:txBody>
        </p:sp>
        <p:sp>
          <p:nvSpPr>
            <p:cNvPr id="71" name="Text 38">
              <a:extLst>
                <a:ext uri="{FF2B5EF4-FFF2-40B4-BE49-F238E27FC236}">
                  <a16:creationId xmlns:a16="http://schemas.microsoft.com/office/drawing/2014/main" id="{6A14F74C-E264-61AD-BC90-529226DA73BF}"/>
                </a:ext>
              </a:extLst>
            </p:cNvPr>
            <p:cNvSpPr/>
            <p:nvPr/>
          </p:nvSpPr>
          <p:spPr>
            <a:xfrm>
              <a:off x="8158163" y="2088459"/>
              <a:ext cx="428625" cy="1125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628" b="1" dirty="0">
                  <a:solidFill>
                    <a:srgbClr val="DA3633"/>
                  </a:solidFill>
                  <a:latin typeface="Roboto Mono" pitchFamily="34" charset="0"/>
                  <a:ea typeface="Roboto Mono" pitchFamily="34" charset="-122"/>
                  <a:cs typeface="Roboto Mono" pitchFamily="34" charset="-120"/>
                </a:rPr>
                <a:t>+0.057</a:t>
              </a:r>
              <a:endParaRPr lang="en-US" sz="628" dirty="0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B5DC0A80-0EB6-CAF8-927E-6742A49D42E5}"/>
              </a:ext>
            </a:extLst>
          </p:cNvPr>
          <p:cNvGrpSpPr/>
          <p:nvPr/>
        </p:nvGrpSpPr>
        <p:grpSpPr>
          <a:xfrm>
            <a:off x="4742410" y="1949018"/>
            <a:ext cx="4017165" cy="598987"/>
            <a:chOff x="4714875" y="2443860"/>
            <a:chExt cx="4000500" cy="847232"/>
          </a:xfrm>
        </p:grpSpPr>
        <p:sp>
          <p:nvSpPr>
            <p:cNvPr id="73" name="Shape 39">
              <a:extLst>
                <a:ext uri="{FF2B5EF4-FFF2-40B4-BE49-F238E27FC236}">
                  <a16:creationId xmlns:a16="http://schemas.microsoft.com/office/drawing/2014/main" id="{0C2C5F3B-414B-1807-2FD7-A5F03564165F}"/>
                </a:ext>
              </a:extLst>
            </p:cNvPr>
            <p:cNvSpPr/>
            <p:nvPr/>
          </p:nvSpPr>
          <p:spPr>
            <a:xfrm>
              <a:off x="4714875" y="2443860"/>
              <a:ext cx="4000500" cy="847232"/>
            </a:xfrm>
            <a:prstGeom prst="rect">
              <a:avLst/>
            </a:prstGeom>
            <a:solidFill>
              <a:srgbClr val="161B22"/>
            </a:solidFill>
            <a:ln/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74" name="Shape 40">
              <a:extLst>
                <a:ext uri="{FF2B5EF4-FFF2-40B4-BE49-F238E27FC236}">
                  <a16:creationId xmlns:a16="http://schemas.microsoft.com/office/drawing/2014/main" id="{0E1FC250-D129-A428-A8E4-6742B76A0236}"/>
                </a:ext>
              </a:extLst>
            </p:cNvPr>
            <p:cNvSpPr/>
            <p:nvPr/>
          </p:nvSpPr>
          <p:spPr>
            <a:xfrm>
              <a:off x="4714875" y="2443860"/>
              <a:ext cx="35719" cy="847232"/>
            </a:xfrm>
            <a:prstGeom prst="rect">
              <a:avLst/>
            </a:prstGeom>
            <a:solidFill>
              <a:srgbClr val="DA3633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75" name="Text 41">
              <a:extLst>
                <a:ext uri="{FF2B5EF4-FFF2-40B4-BE49-F238E27FC236}">
                  <a16:creationId xmlns:a16="http://schemas.microsoft.com/office/drawing/2014/main" id="{2574B534-D5CF-B76C-655E-1808DCE2E9E9}"/>
                </a:ext>
              </a:extLst>
            </p:cNvPr>
            <p:cNvSpPr/>
            <p:nvPr/>
          </p:nvSpPr>
          <p:spPr>
            <a:xfrm>
              <a:off x="4843463" y="2572448"/>
              <a:ext cx="3743325" cy="1160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628" b="1" dirty="0">
                  <a:solidFill>
                    <a:srgbClr val="8B949E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RQ03</a:t>
              </a:r>
              <a:endParaRPr lang="en-US" sz="628" dirty="0"/>
            </a:p>
          </p:txBody>
        </p:sp>
        <p:sp>
          <p:nvSpPr>
            <p:cNvPr id="76" name="Text 42">
              <a:extLst>
                <a:ext uri="{FF2B5EF4-FFF2-40B4-BE49-F238E27FC236}">
                  <a16:creationId xmlns:a16="http://schemas.microsoft.com/office/drawing/2014/main" id="{89CF6FE3-5B6D-8DA8-4033-B72D60614C62}"/>
                </a:ext>
              </a:extLst>
            </p:cNvPr>
            <p:cNvSpPr/>
            <p:nvPr/>
          </p:nvSpPr>
          <p:spPr>
            <a:xfrm>
              <a:off x="4843463" y="2759971"/>
              <a:ext cx="3743325" cy="1400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732" b="1" dirty="0">
                  <a:solidFill>
                    <a:srgbClr val="C9D1D9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Descrições longas não ajudam</a:t>
              </a:r>
              <a:endParaRPr lang="en-US" sz="732" dirty="0"/>
            </a:p>
          </p:txBody>
        </p:sp>
        <p:sp>
          <p:nvSpPr>
            <p:cNvPr id="77" name="Text 43">
              <a:extLst>
                <a:ext uri="{FF2B5EF4-FFF2-40B4-BE49-F238E27FC236}">
                  <a16:creationId xmlns:a16="http://schemas.microsoft.com/office/drawing/2014/main" id="{818AFF99-F79C-21AC-13DB-1A0F64E2A9FB}"/>
                </a:ext>
              </a:extLst>
            </p:cNvPr>
            <p:cNvSpPr/>
            <p:nvPr/>
          </p:nvSpPr>
          <p:spPr>
            <a:xfrm>
              <a:off x="4843463" y="3035703"/>
              <a:ext cx="3314700" cy="1268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PRs merged 24% mais curtas</a:t>
              </a:r>
              <a:endParaRPr lang="en-US" sz="680" dirty="0"/>
            </a:p>
          </p:txBody>
        </p:sp>
        <p:sp>
          <p:nvSpPr>
            <p:cNvPr id="78" name="Text 44">
              <a:extLst>
                <a:ext uri="{FF2B5EF4-FFF2-40B4-BE49-F238E27FC236}">
                  <a16:creationId xmlns:a16="http://schemas.microsoft.com/office/drawing/2014/main" id="{B3FF7939-B02D-D6A3-226B-AE0746418148}"/>
                </a:ext>
              </a:extLst>
            </p:cNvPr>
            <p:cNvSpPr/>
            <p:nvPr/>
          </p:nvSpPr>
          <p:spPr>
            <a:xfrm>
              <a:off x="8158163" y="3042847"/>
              <a:ext cx="428625" cy="1125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628" b="1" dirty="0">
                  <a:solidFill>
                    <a:srgbClr val="DA3633"/>
                  </a:solidFill>
                  <a:latin typeface="Roboto Mono" pitchFamily="34" charset="0"/>
                  <a:ea typeface="Roboto Mono" pitchFamily="34" charset="-122"/>
                  <a:cs typeface="Roboto Mono" pitchFamily="34" charset="-120"/>
                </a:rPr>
                <a:t>-0.068</a:t>
              </a:r>
              <a:endParaRPr lang="en-US" sz="628" dirty="0"/>
            </a:p>
          </p:txBody>
        </p:sp>
      </p:grpSp>
      <p:grpSp>
        <p:nvGrpSpPr>
          <p:cNvPr id="79" name="Agrupar 78">
            <a:extLst>
              <a:ext uri="{FF2B5EF4-FFF2-40B4-BE49-F238E27FC236}">
                <a16:creationId xmlns:a16="http://schemas.microsoft.com/office/drawing/2014/main" id="{0C91C551-FFDC-EF87-2C5F-02098D4D18DF}"/>
              </a:ext>
            </a:extLst>
          </p:cNvPr>
          <p:cNvGrpSpPr/>
          <p:nvPr/>
        </p:nvGrpSpPr>
        <p:grpSpPr>
          <a:xfrm>
            <a:off x="4742410" y="2636391"/>
            <a:ext cx="4017165" cy="537255"/>
            <a:chOff x="4714875" y="3398248"/>
            <a:chExt cx="4000500" cy="856162"/>
          </a:xfrm>
        </p:grpSpPr>
        <p:sp>
          <p:nvSpPr>
            <p:cNvPr id="80" name="Shape 45">
              <a:extLst>
                <a:ext uri="{FF2B5EF4-FFF2-40B4-BE49-F238E27FC236}">
                  <a16:creationId xmlns:a16="http://schemas.microsoft.com/office/drawing/2014/main" id="{6A6AD183-BD2A-C8CA-BDBF-B9D8798105B5}"/>
                </a:ext>
              </a:extLst>
            </p:cNvPr>
            <p:cNvSpPr/>
            <p:nvPr/>
          </p:nvSpPr>
          <p:spPr>
            <a:xfrm>
              <a:off x="4714875" y="3398248"/>
              <a:ext cx="4000500" cy="856162"/>
            </a:xfrm>
            <a:prstGeom prst="rect">
              <a:avLst/>
            </a:prstGeom>
            <a:solidFill>
              <a:srgbClr val="161B2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81" name="Shape 46">
              <a:extLst>
                <a:ext uri="{FF2B5EF4-FFF2-40B4-BE49-F238E27FC236}">
                  <a16:creationId xmlns:a16="http://schemas.microsoft.com/office/drawing/2014/main" id="{D72D6FFE-0CEC-1856-2396-ABE512116DEA}"/>
                </a:ext>
              </a:extLst>
            </p:cNvPr>
            <p:cNvSpPr/>
            <p:nvPr/>
          </p:nvSpPr>
          <p:spPr>
            <a:xfrm>
              <a:off x="4714875" y="3398248"/>
              <a:ext cx="35719" cy="856162"/>
            </a:xfrm>
            <a:prstGeom prst="rect">
              <a:avLst/>
            </a:prstGeom>
            <a:solidFill>
              <a:srgbClr val="DA3633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82" name="Text 47">
              <a:extLst>
                <a:ext uri="{FF2B5EF4-FFF2-40B4-BE49-F238E27FC236}">
                  <a16:creationId xmlns:a16="http://schemas.microsoft.com/office/drawing/2014/main" id="{815BEC41-B0A5-4EE4-056E-55649AC96EBF}"/>
                </a:ext>
              </a:extLst>
            </p:cNvPr>
            <p:cNvSpPr/>
            <p:nvPr/>
          </p:nvSpPr>
          <p:spPr>
            <a:xfrm>
              <a:off x="4843463" y="3526836"/>
              <a:ext cx="3743325" cy="1160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628" b="1" dirty="0">
                  <a:solidFill>
                    <a:srgbClr val="8B949E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RQ07</a:t>
              </a:r>
              <a:endParaRPr lang="en-US" sz="628" dirty="0"/>
            </a:p>
          </p:txBody>
        </p:sp>
        <p:sp>
          <p:nvSpPr>
            <p:cNvPr id="83" name="Text 48">
              <a:extLst>
                <a:ext uri="{FF2B5EF4-FFF2-40B4-BE49-F238E27FC236}">
                  <a16:creationId xmlns:a16="http://schemas.microsoft.com/office/drawing/2014/main" id="{AEADB6CD-1D50-D1F5-0AE5-0F5C3DAB9EB2}"/>
                </a:ext>
              </a:extLst>
            </p:cNvPr>
            <p:cNvSpPr/>
            <p:nvPr/>
          </p:nvSpPr>
          <p:spPr>
            <a:xfrm>
              <a:off x="4843463" y="3714359"/>
              <a:ext cx="3743325" cy="1400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732" b="1" dirty="0">
                  <a:solidFill>
                    <a:srgbClr val="C9D1D9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Clareza não reduz revisões</a:t>
              </a:r>
              <a:endParaRPr lang="en-US" sz="732" dirty="0"/>
            </a:p>
          </p:txBody>
        </p:sp>
        <p:sp>
          <p:nvSpPr>
            <p:cNvPr id="84" name="Text 49">
              <a:extLst>
                <a:ext uri="{FF2B5EF4-FFF2-40B4-BE49-F238E27FC236}">
                  <a16:creationId xmlns:a16="http://schemas.microsoft.com/office/drawing/2014/main" id="{AA6349CB-367C-32AB-2B77-F857F57C3E8B}"/>
                </a:ext>
              </a:extLst>
            </p:cNvPr>
            <p:cNvSpPr/>
            <p:nvPr/>
          </p:nvSpPr>
          <p:spPr>
            <a:xfrm>
              <a:off x="4843463" y="3990091"/>
              <a:ext cx="3314700" cy="13573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Descrições maiores → mais revisões</a:t>
              </a:r>
              <a:endParaRPr lang="en-US" sz="680" dirty="0"/>
            </a:p>
          </p:txBody>
        </p:sp>
        <p:sp>
          <p:nvSpPr>
            <p:cNvPr id="85" name="Text 50">
              <a:extLst>
                <a:ext uri="{FF2B5EF4-FFF2-40B4-BE49-F238E27FC236}">
                  <a16:creationId xmlns:a16="http://schemas.microsoft.com/office/drawing/2014/main" id="{D58C942C-251B-AA37-760B-C85F0D1942B8}"/>
                </a:ext>
              </a:extLst>
            </p:cNvPr>
            <p:cNvSpPr/>
            <p:nvPr/>
          </p:nvSpPr>
          <p:spPr>
            <a:xfrm>
              <a:off x="8158163" y="4001700"/>
              <a:ext cx="428625" cy="1125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628" b="1" dirty="0">
                  <a:solidFill>
                    <a:srgbClr val="DA3633"/>
                  </a:solidFill>
                  <a:latin typeface="Roboto Mono" pitchFamily="34" charset="0"/>
                  <a:ea typeface="Roboto Mono" pitchFamily="34" charset="-122"/>
                  <a:cs typeface="Roboto Mono" pitchFamily="34" charset="-120"/>
                </a:rPr>
                <a:t>+0.170</a:t>
              </a:r>
              <a:endParaRPr lang="en-US" sz="628" dirty="0"/>
            </a:p>
          </p:txBody>
        </p:sp>
      </p:grpSp>
      <p:grpSp>
        <p:nvGrpSpPr>
          <p:cNvPr id="86" name="Agrupar 85">
            <a:extLst>
              <a:ext uri="{FF2B5EF4-FFF2-40B4-BE49-F238E27FC236}">
                <a16:creationId xmlns:a16="http://schemas.microsoft.com/office/drawing/2014/main" id="{DA6424EE-ECD1-4629-9B10-207A17415245}"/>
              </a:ext>
            </a:extLst>
          </p:cNvPr>
          <p:cNvGrpSpPr/>
          <p:nvPr/>
        </p:nvGrpSpPr>
        <p:grpSpPr>
          <a:xfrm>
            <a:off x="477592" y="1276502"/>
            <a:ext cx="3964781" cy="540145"/>
            <a:chOff x="428625" y="1489472"/>
            <a:chExt cx="4000500" cy="847232"/>
          </a:xfrm>
        </p:grpSpPr>
        <p:sp>
          <p:nvSpPr>
            <p:cNvPr id="87" name="Shape 4"/>
            <p:cNvSpPr/>
            <p:nvPr/>
          </p:nvSpPr>
          <p:spPr>
            <a:xfrm>
              <a:off x="428625" y="1489472"/>
              <a:ext cx="4000500" cy="847232"/>
            </a:xfrm>
            <a:prstGeom prst="rect">
              <a:avLst/>
            </a:prstGeom>
            <a:solidFill>
              <a:srgbClr val="161B2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88" name="Shape 5"/>
            <p:cNvSpPr/>
            <p:nvPr/>
          </p:nvSpPr>
          <p:spPr>
            <a:xfrm>
              <a:off x="428625" y="1489472"/>
              <a:ext cx="35719" cy="847232"/>
            </a:xfrm>
            <a:prstGeom prst="rect">
              <a:avLst/>
            </a:prstGeom>
            <a:solidFill>
              <a:srgbClr val="238636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89" name="Text 6"/>
            <p:cNvSpPr/>
            <p:nvPr/>
          </p:nvSpPr>
          <p:spPr>
            <a:xfrm>
              <a:off x="557213" y="1618059"/>
              <a:ext cx="3743325" cy="1160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628" b="1" dirty="0">
                  <a:solidFill>
                    <a:srgbClr val="8B949E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RQ02</a:t>
              </a:r>
              <a:endParaRPr lang="en-US" sz="628" dirty="0"/>
            </a:p>
          </p:txBody>
        </p:sp>
        <p:sp>
          <p:nvSpPr>
            <p:cNvPr id="90" name="Text 7"/>
            <p:cNvSpPr/>
            <p:nvPr/>
          </p:nvSpPr>
          <p:spPr>
            <a:xfrm>
              <a:off x="557213" y="1805583"/>
              <a:ext cx="3743325" cy="1400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732" b="1" dirty="0">
                  <a:solidFill>
                    <a:srgbClr val="C9D1D9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Velocidade é crucial para aceitação</a:t>
              </a:r>
              <a:endParaRPr lang="en-US" sz="732" dirty="0"/>
            </a:p>
          </p:txBody>
        </p:sp>
        <p:sp>
          <p:nvSpPr>
            <p:cNvPr id="91" name="Text 8"/>
            <p:cNvSpPr/>
            <p:nvPr/>
          </p:nvSpPr>
          <p:spPr>
            <a:xfrm>
              <a:off x="557213" y="2081315"/>
              <a:ext cx="3314700" cy="1268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PRs merged 7x mais rápidos</a:t>
              </a:r>
              <a:endParaRPr lang="en-US" sz="680" dirty="0"/>
            </a:p>
          </p:txBody>
        </p:sp>
        <p:sp>
          <p:nvSpPr>
            <p:cNvPr id="92" name="Text 9"/>
            <p:cNvSpPr/>
            <p:nvPr/>
          </p:nvSpPr>
          <p:spPr>
            <a:xfrm>
              <a:off x="3871913" y="2088459"/>
              <a:ext cx="428625" cy="1125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628" b="1" dirty="0">
                  <a:solidFill>
                    <a:srgbClr val="238636"/>
                  </a:solidFill>
                  <a:latin typeface="Roboto Mono" pitchFamily="34" charset="0"/>
                  <a:ea typeface="Roboto Mono" pitchFamily="34" charset="-122"/>
                  <a:cs typeface="Roboto Mono" pitchFamily="34" charset="-120"/>
                </a:rPr>
                <a:t>-0.240</a:t>
              </a:r>
              <a:endParaRPr lang="en-US" sz="628" dirty="0"/>
            </a:p>
          </p:txBody>
        </p:sp>
      </p:grpSp>
      <p:grpSp>
        <p:nvGrpSpPr>
          <p:cNvPr id="93" name="Agrupar 92">
            <a:extLst>
              <a:ext uri="{FF2B5EF4-FFF2-40B4-BE49-F238E27FC236}">
                <a16:creationId xmlns:a16="http://schemas.microsoft.com/office/drawing/2014/main" id="{FE05DBB4-AF9A-EA4D-4D91-92C2D426CC7C}"/>
              </a:ext>
            </a:extLst>
          </p:cNvPr>
          <p:cNvGrpSpPr/>
          <p:nvPr/>
        </p:nvGrpSpPr>
        <p:grpSpPr>
          <a:xfrm>
            <a:off x="477592" y="1937704"/>
            <a:ext cx="3964782" cy="570232"/>
            <a:chOff x="428625" y="2443860"/>
            <a:chExt cx="4000500" cy="847232"/>
          </a:xfrm>
        </p:grpSpPr>
        <p:sp>
          <p:nvSpPr>
            <p:cNvPr id="94" name="Shape 10"/>
            <p:cNvSpPr/>
            <p:nvPr/>
          </p:nvSpPr>
          <p:spPr>
            <a:xfrm>
              <a:off x="428625" y="2443860"/>
              <a:ext cx="4000500" cy="847232"/>
            </a:xfrm>
            <a:prstGeom prst="rect">
              <a:avLst/>
            </a:prstGeom>
            <a:solidFill>
              <a:srgbClr val="161B2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95" name="Shape 11"/>
            <p:cNvSpPr/>
            <p:nvPr/>
          </p:nvSpPr>
          <p:spPr>
            <a:xfrm>
              <a:off x="428625" y="2443860"/>
              <a:ext cx="35719" cy="847232"/>
            </a:xfrm>
            <a:prstGeom prst="rect">
              <a:avLst/>
            </a:prstGeom>
            <a:solidFill>
              <a:srgbClr val="238636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96" name="Text 12"/>
            <p:cNvSpPr/>
            <p:nvPr/>
          </p:nvSpPr>
          <p:spPr>
            <a:xfrm>
              <a:off x="557213" y="2572448"/>
              <a:ext cx="3743325" cy="1160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628" b="1" dirty="0">
                  <a:solidFill>
                    <a:srgbClr val="8B949E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RQ05</a:t>
              </a:r>
              <a:endParaRPr lang="en-US" sz="628" dirty="0"/>
            </a:p>
          </p:txBody>
        </p:sp>
        <p:sp>
          <p:nvSpPr>
            <p:cNvPr id="97" name="Text 13"/>
            <p:cNvSpPr/>
            <p:nvPr/>
          </p:nvSpPr>
          <p:spPr>
            <a:xfrm>
              <a:off x="557213" y="2759971"/>
              <a:ext cx="3743325" cy="1400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732" b="1" dirty="0">
                  <a:solidFill>
                    <a:srgbClr val="C9D1D9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PRs maiores recebem mais revisões</a:t>
              </a:r>
              <a:endParaRPr lang="en-US" sz="732" dirty="0"/>
            </a:p>
          </p:txBody>
        </p:sp>
        <p:sp>
          <p:nvSpPr>
            <p:cNvPr id="98" name="Text 14"/>
            <p:cNvSpPr/>
            <p:nvPr/>
          </p:nvSpPr>
          <p:spPr>
            <a:xfrm>
              <a:off x="557213" y="3035703"/>
              <a:ext cx="3314700" cy="1268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Correlação positiva moderada</a:t>
              </a:r>
              <a:endParaRPr lang="en-US" sz="680" dirty="0"/>
            </a:p>
          </p:txBody>
        </p:sp>
        <p:sp>
          <p:nvSpPr>
            <p:cNvPr id="99" name="Text 15"/>
            <p:cNvSpPr/>
            <p:nvPr/>
          </p:nvSpPr>
          <p:spPr>
            <a:xfrm>
              <a:off x="3871913" y="3042847"/>
              <a:ext cx="428625" cy="1125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628" b="1" dirty="0">
                  <a:solidFill>
                    <a:srgbClr val="238636"/>
                  </a:solidFill>
                  <a:latin typeface="Roboto Mono" pitchFamily="34" charset="0"/>
                  <a:ea typeface="Roboto Mono" pitchFamily="34" charset="-122"/>
                  <a:cs typeface="Roboto Mono" pitchFamily="34" charset="-120"/>
                </a:rPr>
                <a:t>+0.226</a:t>
              </a:r>
              <a:endParaRPr lang="en-US" sz="628" dirty="0"/>
            </a:p>
          </p:txBody>
        </p:sp>
      </p:grpSp>
      <p:grpSp>
        <p:nvGrpSpPr>
          <p:cNvPr id="100" name="Agrupar 99">
            <a:extLst>
              <a:ext uri="{FF2B5EF4-FFF2-40B4-BE49-F238E27FC236}">
                <a16:creationId xmlns:a16="http://schemas.microsoft.com/office/drawing/2014/main" id="{CE31917E-C1E2-A938-8060-822F730A2D6E}"/>
              </a:ext>
            </a:extLst>
          </p:cNvPr>
          <p:cNvGrpSpPr/>
          <p:nvPr/>
        </p:nvGrpSpPr>
        <p:grpSpPr>
          <a:xfrm>
            <a:off x="477593" y="2624625"/>
            <a:ext cx="3964782" cy="506342"/>
            <a:chOff x="428625" y="3398248"/>
            <a:chExt cx="4000500" cy="847232"/>
          </a:xfrm>
        </p:grpSpPr>
        <p:sp>
          <p:nvSpPr>
            <p:cNvPr id="101" name="Shape 16"/>
            <p:cNvSpPr/>
            <p:nvPr/>
          </p:nvSpPr>
          <p:spPr>
            <a:xfrm>
              <a:off x="428625" y="3398248"/>
              <a:ext cx="4000500" cy="847232"/>
            </a:xfrm>
            <a:prstGeom prst="rect">
              <a:avLst/>
            </a:prstGeom>
            <a:solidFill>
              <a:srgbClr val="161B2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02" name="Shape 17"/>
            <p:cNvSpPr/>
            <p:nvPr/>
          </p:nvSpPr>
          <p:spPr>
            <a:xfrm>
              <a:off x="428625" y="3398248"/>
              <a:ext cx="35719" cy="847232"/>
            </a:xfrm>
            <a:prstGeom prst="rect">
              <a:avLst/>
            </a:prstGeom>
            <a:solidFill>
              <a:srgbClr val="238636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03" name="Text 18"/>
            <p:cNvSpPr/>
            <p:nvPr/>
          </p:nvSpPr>
          <p:spPr>
            <a:xfrm>
              <a:off x="557213" y="3526836"/>
              <a:ext cx="3743325" cy="1160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628" b="1" dirty="0">
                  <a:solidFill>
                    <a:srgbClr val="8B949E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RQ06</a:t>
              </a:r>
              <a:endParaRPr lang="en-US" sz="628" dirty="0"/>
            </a:p>
          </p:txBody>
        </p:sp>
        <p:sp>
          <p:nvSpPr>
            <p:cNvPr id="104" name="Text 19"/>
            <p:cNvSpPr/>
            <p:nvPr/>
          </p:nvSpPr>
          <p:spPr>
            <a:xfrm>
              <a:off x="557213" y="3714359"/>
              <a:ext cx="3743325" cy="1400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732" b="1" dirty="0">
                  <a:solidFill>
                    <a:srgbClr val="C9D1D9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Mais tempo correlaciona com mais revisões</a:t>
              </a:r>
              <a:endParaRPr lang="en-US" sz="732" dirty="0"/>
            </a:p>
          </p:txBody>
        </p:sp>
        <p:sp>
          <p:nvSpPr>
            <p:cNvPr id="105" name="Text 20"/>
            <p:cNvSpPr/>
            <p:nvPr/>
          </p:nvSpPr>
          <p:spPr>
            <a:xfrm>
              <a:off x="557213" y="3990091"/>
              <a:ext cx="3314700" cy="1268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Ciclo iterativo de feedback</a:t>
              </a:r>
              <a:endParaRPr lang="en-US" sz="680" dirty="0"/>
            </a:p>
          </p:txBody>
        </p:sp>
        <p:sp>
          <p:nvSpPr>
            <p:cNvPr id="106" name="Text 21"/>
            <p:cNvSpPr/>
            <p:nvPr/>
          </p:nvSpPr>
          <p:spPr>
            <a:xfrm>
              <a:off x="3871913" y="3997235"/>
              <a:ext cx="428625" cy="1125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628" b="1" dirty="0">
                  <a:solidFill>
                    <a:srgbClr val="238636"/>
                  </a:solidFill>
                  <a:latin typeface="Roboto Mono" pitchFamily="34" charset="0"/>
                  <a:ea typeface="Roboto Mono" pitchFamily="34" charset="-122"/>
                  <a:cs typeface="Roboto Mono" pitchFamily="34" charset="-120"/>
                </a:rPr>
                <a:t>+0.208</a:t>
              </a:r>
              <a:endParaRPr lang="en-US" sz="628" dirty="0"/>
            </a:p>
          </p:txBody>
        </p:sp>
      </p:grpSp>
      <p:grpSp>
        <p:nvGrpSpPr>
          <p:cNvPr id="107" name="Agrupar 106">
            <a:extLst>
              <a:ext uri="{FF2B5EF4-FFF2-40B4-BE49-F238E27FC236}">
                <a16:creationId xmlns:a16="http://schemas.microsoft.com/office/drawing/2014/main" id="{66267B95-82C9-6C09-1464-3CCD4FE15962}"/>
              </a:ext>
            </a:extLst>
          </p:cNvPr>
          <p:cNvGrpSpPr/>
          <p:nvPr/>
        </p:nvGrpSpPr>
        <p:grpSpPr>
          <a:xfrm>
            <a:off x="477592" y="3254244"/>
            <a:ext cx="3964782" cy="612753"/>
            <a:chOff x="428625" y="4352637"/>
            <a:chExt cx="4000500" cy="847232"/>
          </a:xfrm>
        </p:grpSpPr>
        <p:sp>
          <p:nvSpPr>
            <p:cNvPr id="108" name="Shape 22"/>
            <p:cNvSpPr/>
            <p:nvPr/>
          </p:nvSpPr>
          <p:spPr>
            <a:xfrm>
              <a:off x="428625" y="4352637"/>
              <a:ext cx="4000500" cy="847232"/>
            </a:xfrm>
            <a:prstGeom prst="rect">
              <a:avLst/>
            </a:prstGeom>
            <a:solidFill>
              <a:srgbClr val="161B2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09" name="Shape 23"/>
            <p:cNvSpPr/>
            <p:nvPr/>
          </p:nvSpPr>
          <p:spPr>
            <a:xfrm>
              <a:off x="428625" y="4352637"/>
              <a:ext cx="35719" cy="847232"/>
            </a:xfrm>
            <a:prstGeom prst="rect">
              <a:avLst/>
            </a:prstGeom>
            <a:solidFill>
              <a:srgbClr val="238636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10" name="Text 24"/>
            <p:cNvSpPr/>
            <p:nvPr/>
          </p:nvSpPr>
          <p:spPr>
            <a:xfrm>
              <a:off x="557213" y="4481224"/>
              <a:ext cx="3743325" cy="1160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628" b="1" dirty="0">
                  <a:solidFill>
                    <a:srgbClr val="8B949E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RQ04</a:t>
              </a:r>
              <a:endParaRPr lang="en-US" sz="628" dirty="0"/>
            </a:p>
          </p:txBody>
        </p:sp>
        <p:sp>
          <p:nvSpPr>
            <p:cNvPr id="111" name="Text 25"/>
            <p:cNvSpPr/>
            <p:nvPr/>
          </p:nvSpPr>
          <p:spPr>
            <a:xfrm>
              <a:off x="557213" y="4668748"/>
              <a:ext cx="3743325" cy="1400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732" b="1" dirty="0">
                  <a:solidFill>
                    <a:srgbClr val="C9D1D9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Menos interações = maior chance de merge</a:t>
              </a:r>
              <a:endParaRPr lang="en-US" sz="732" dirty="0"/>
            </a:p>
          </p:txBody>
        </p:sp>
        <p:sp>
          <p:nvSpPr>
            <p:cNvPr id="112" name="Text 26"/>
            <p:cNvSpPr/>
            <p:nvPr/>
          </p:nvSpPr>
          <p:spPr>
            <a:xfrm>
              <a:off x="557213" y="4944480"/>
              <a:ext cx="3314700" cy="1268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>
                <a:buNone/>
              </a:pPr>
              <a:r>
                <a:rPr lang="en-US" sz="680" dirty="0">
                  <a:solidFill>
                    <a:srgbClr val="8B949E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Comentários reduzem aceitação</a:t>
              </a:r>
              <a:endParaRPr lang="en-US" sz="680" dirty="0"/>
            </a:p>
          </p:txBody>
        </p:sp>
        <p:sp>
          <p:nvSpPr>
            <p:cNvPr id="113" name="Text 27"/>
            <p:cNvSpPr/>
            <p:nvPr/>
          </p:nvSpPr>
          <p:spPr>
            <a:xfrm>
              <a:off x="3871913" y="4951623"/>
              <a:ext cx="428625" cy="1125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r">
                <a:buNone/>
              </a:pPr>
              <a:r>
                <a:rPr lang="en-US" sz="628" b="1" dirty="0">
                  <a:solidFill>
                    <a:srgbClr val="238636"/>
                  </a:solidFill>
                  <a:latin typeface="Roboto Mono" pitchFamily="34" charset="0"/>
                  <a:ea typeface="Roboto Mono" pitchFamily="34" charset="-122"/>
                  <a:cs typeface="Roboto Mono" pitchFamily="34" charset="-120"/>
                </a:rPr>
                <a:t>-0.183</a:t>
              </a:r>
              <a:endParaRPr lang="en-US" sz="628" dirty="0"/>
            </a:p>
          </p:txBody>
        </p:sp>
      </p:grpSp>
      <p:sp>
        <p:nvSpPr>
          <p:cNvPr id="7" name="Retângulo 6">
            <a:extLst>
              <a:ext uri="{FF2B5EF4-FFF2-40B4-BE49-F238E27FC236}">
                <a16:creationId xmlns:a16="http://schemas.microsoft.com/office/drawing/2014/main" id="{F203E3E9-9527-68E1-9436-A7EFEA07C22F}"/>
              </a:ext>
            </a:extLst>
          </p:cNvPr>
          <p:cNvSpPr/>
          <p:nvPr/>
        </p:nvSpPr>
        <p:spPr>
          <a:xfrm>
            <a:off x="4714875" y="3347243"/>
            <a:ext cx="4000500" cy="706577"/>
          </a:xfrm>
          <a:prstGeom prst="rect">
            <a:avLst/>
          </a:prstGeom>
          <a:solidFill>
            <a:srgbClr val="0D11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9273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42020"/>
            <a:ext cx="42863" cy="285750"/>
          </a:xfrm>
          <a:prstGeom prst="round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578644" y="428625"/>
            <a:ext cx="454571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Insights Práticos para Desenvolvimento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28625" y="955477"/>
            <a:ext cx="2643188" cy="3759398"/>
          </a:xfrm>
          <a:prstGeom prst="rect">
            <a:avLst/>
          </a:prstGeom>
          <a:solidFill>
            <a:srgbClr val="161B22"/>
          </a:solidFill>
          <a:ln w="496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607219" y="1134070"/>
            <a:ext cx="25003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👨‍💻</a:t>
            </a:r>
            <a:endParaRPr lang="en-US" sz="1575" dirty="0"/>
          </a:p>
        </p:txBody>
      </p:sp>
      <p:sp>
        <p:nvSpPr>
          <p:cNvPr id="7" name="Text 4"/>
          <p:cNvSpPr/>
          <p:nvPr/>
        </p:nvSpPr>
        <p:spPr>
          <a:xfrm>
            <a:off x="942975" y="1183184"/>
            <a:ext cx="1071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Desenvolvedores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607219" y="1607344"/>
            <a:ext cx="42863" cy="42863"/>
          </a:xfrm>
          <a:prstGeom prst="ellipse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735806" y="1557338"/>
            <a:ext cx="69071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Foque em PRs </a:t>
            </a:r>
            <a:endParaRPr lang="en-US" sz="732" dirty="0"/>
          </a:p>
        </p:txBody>
      </p:sp>
      <p:sp>
        <p:nvSpPr>
          <p:cNvPr id="10" name="Text 7"/>
          <p:cNvSpPr/>
          <p:nvPr/>
        </p:nvSpPr>
        <p:spPr>
          <a:xfrm>
            <a:off x="1426518" y="1557338"/>
            <a:ext cx="95542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pequenos e rápidos</a:t>
            </a:r>
            <a:endParaRPr lang="en-US" sz="732" dirty="0"/>
          </a:p>
        </p:txBody>
      </p:sp>
      <p:sp>
        <p:nvSpPr>
          <p:cNvPr id="11" name="Text 8"/>
          <p:cNvSpPr/>
          <p:nvPr/>
        </p:nvSpPr>
        <p:spPr>
          <a:xfrm>
            <a:off x="2381938" y="1557338"/>
            <a:ext cx="4550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mais que </a:t>
            </a:r>
            <a:endParaRPr lang="en-US" sz="732" dirty="0"/>
          </a:p>
        </p:txBody>
      </p:sp>
      <p:sp>
        <p:nvSpPr>
          <p:cNvPr id="12" name="Text 9"/>
          <p:cNvSpPr/>
          <p:nvPr/>
        </p:nvSpPr>
        <p:spPr>
          <a:xfrm>
            <a:off x="735806" y="1707356"/>
            <a:ext cx="193425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 PRs pequenos apenas. A velocidade é </a:t>
            </a:r>
            <a:endParaRPr lang="en-US" sz="732" dirty="0"/>
          </a:p>
        </p:txBody>
      </p:sp>
      <p:sp>
        <p:nvSpPr>
          <p:cNvPr id="13" name="Text 10"/>
          <p:cNvSpPr/>
          <p:nvPr/>
        </p:nvSpPr>
        <p:spPr>
          <a:xfrm>
            <a:off x="735806" y="1857375"/>
            <a:ext cx="154949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mais importante que o tamanho. </a:t>
            </a:r>
            <a:endParaRPr lang="en-US" sz="732" dirty="0"/>
          </a:p>
        </p:txBody>
      </p:sp>
      <p:sp>
        <p:nvSpPr>
          <p:cNvPr id="14" name="Shape 11"/>
          <p:cNvSpPr/>
          <p:nvPr/>
        </p:nvSpPr>
        <p:spPr>
          <a:xfrm>
            <a:off x="607219" y="2164556"/>
            <a:ext cx="42863" cy="42863"/>
          </a:xfrm>
          <a:prstGeom prst="ellipse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735806" y="2114550"/>
            <a:ext cx="53128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Descrições </a:t>
            </a:r>
            <a:endParaRPr lang="en-US" sz="732" dirty="0"/>
          </a:p>
        </p:txBody>
      </p:sp>
      <p:sp>
        <p:nvSpPr>
          <p:cNvPr id="16" name="Text 13"/>
          <p:cNvSpPr/>
          <p:nvPr/>
        </p:nvSpPr>
        <p:spPr>
          <a:xfrm>
            <a:off x="1267095" y="2114550"/>
            <a:ext cx="41135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concisas</a:t>
            </a:r>
            <a:endParaRPr lang="en-US" sz="732" dirty="0"/>
          </a:p>
        </p:txBody>
      </p:sp>
      <p:sp>
        <p:nvSpPr>
          <p:cNvPr id="17" name="Text 14"/>
          <p:cNvSpPr/>
          <p:nvPr/>
        </p:nvSpPr>
        <p:spPr>
          <a:xfrm>
            <a:off x="1678446" y="2114550"/>
            <a:ext cx="7803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podem ser mais </a:t>
            </a:r>
            <a:endParaRPr lang="en-US" sz="732" dirty="0"/>
          </a:p>
        </p:txBody>
      </p:sp>
      <p:sp>
        <p:nvSpPr>
          <p:cNvPr id="18" name="Text 15"/>
          <p:cNvSpPr/>
          <p:nvPr/>
        </p:nvSpPr>
        <p:spPr>
          <a:xfrm>
            <a:off x="735806" y="2264569"/>
            <a:ext cx="184473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eficientes que descrições muito longas. </a:t>
            </a:r>
            <a:endParaRPr lang="en-US" sz="732" dirty="0"/>
          </a:p>
        </p:txBody>
      </p:sp>
      <p:sp>
        <p:nvSpPr>
          <p:cNvPr id="19" name="Text 16"/>
          <p:cNvSpPr/>
          <p:nvPr/>
        </p:nvSpPr>
        <p:spPr>
          <a:xfrm>
            <a:off x="735806" y="2414588"/>
            <a:ext cx="12260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Clareza sobre quantidade. </a:t>
            </a:r>
            <a:endParaRPr lang="en-US" sz="732" dirty="0"/>
          </a:p>
        </p:txBody>
      </p:sp>
      <p:sp>
        <p:nvSpPr>
          <p:cNvPr id="20" name="Shape 17"/>
          <p:cNvSpPr/>
          <p:nvPr/>
        </p:nvSpPr>
        <p:spPr>
          <a:xfrm>
            <a:off x="607219" y="2721769"/>
            <a:ext cx="42863" cy="42863"/>
          </a:xfrm>
          <a:prstGeom prst="ellipse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735806" y="2671763"/>
            <a:ext cx="124287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Evite discussões extensas</a:t>
            </a:r>
            <a:endParaRPr lang="en-US" sz="732" dirty="0"/>
          </a:p>
        </p:txBody>
      </p:sp>
      <p:sp>
        <p:nvSpPr>
          <p:cNvPr id="22" name="Text 19"/>
          <p:cNvSpPr/>
          <p:nvPr/>
        </p:nvSpPr>
        <p:spPr>
          <a:xfrm>
            <a:off x="1978679" y="2671763"/>
            <a:ext cx="80540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nos PRs. Resolva </a:t>
            </a:r>
            <a:endParaRPr lang="en-US" sz="732" dirty="0"/>
          </a:p>
        </p:txBody>
      </p:sp>
      <p:sp>
        <p:nvSpPr>
          <p:cNvPr id="23" name="Text 20"/>
          <p:cNvSpPr/>
          <p:nvPr/>
        </p:nvSpPr>
        <p:spPr>
          <a:xfrm>
            <a:off x="735806" y="2821781"/>
            <a:ext cx="167741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conflitos rapidamente ou em canais </a:t>
            </a:r>
            <a:endParaRPr lang="en-US" sz="732" dirty="0"/>
          </a:p>
        </p:txBody>
      </p:sp>
      <p:sp>
        <p:nvSpPr>
          <p:cNvPr id="24" name="Text 21"/>
          <p:cNvSpPr/>
          <p:nvPr/>
        </p:nvSpPr>
        <p:spPr>
          <a:xfrm>
            <a:off x="735806" y="2971800"/>
            <a:ext cx="5140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separados. </a:t>
            </a:r>
            <a:endParaRPr lang="en-US" sz="732" dirty="0"/>
          </a:p>
        </p:txBody>
      </p:sp>
      <p:sp>
        <p:nvSpPr>
          <p:cNvPr id="25" name="Shape 22"/>
          <p:cNvSpPr/>
          <p:nvPr/>
        </p:nvSpPr>
        <p:spPr>
          <a:xfrm>
            <a:off x="3250406" y="955477"/>
            <a:ext cx="2643188" cy="3759398"/>
          </a:xfrm>
          <a:prstGeom prst="rect">
            <a:avLst/>
          </a:prstGeom>
          <a:solidFill>
            <a:srgbClr val="161B22"/>
          </a:solidFill>
          <a:ln w="496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3429000" y="1134070"/>
            <a:ext cx="25003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👁️</a:t>
            </a:r>
            <a:endParaRPr lang="en-US" sz="1575" dirty="0"/>
          </a:p>
        </p:txBody>
      </p:sp>
      <p:sp>
        <p:nvSpPr>
          <p:cNvPr id="27" name="Text 24"/>
          <p:cNvSpPr/>
          <p:nvPr/>
        </p:nvSpPr>
        <p:spPr>
          <a:xfrm>
            <a:off x="3764756" y="1183184"/>
            <a:ext cx="59588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23863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Revisores</a:t>
            </a:r>
            <a:endParaRPr lang="en-US" sz="942" dirty="0"/>
          </a:p>
        </p:txBody>
      </p:sp>
      <p:sp>
        <p:nvSpPr>
          <p:cNvPr id="28" name="Shape 25"/>
          <p:cNvSpPr/>
          <p:nvPr/>
        </p:nvSpPr>
        <p:spPr>
          <a:xfrm>
            <a:off x="3429000" y="1607344"/>
            <a:ext cx="42863" cy="42863"/>
          </a:xfrm>
          <a:prstGeom prst="ellipse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6"/>
          <p:cNvSpPr/>
          <p:nvPr/>
        </p:nvSpPr>
        <p:spPr>
          <a:xfrm>
            <a:off x="3557588" y="1557338"/>
            <a:ext cx="19664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PRs </a:t>
            </a:r>
            <a:endParaRPr lang="en-US" sz="732" dirty="0"/>
          </a:p>
        </p:txBody>
      </p:sp>
      <p:sp>
        <p:nvSpPr>
          <p:cNvPr id="30" name="Text 27"/>
          <p:cNvSpPr/>
          <p:nvPr/>
        </p:nvSpPr>
        <p:spPr>
          <a:xfrm>
            <a:off x="3754236" y="1557338"/>
            <a:ext cx="16897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maiores precisam de mais atenção</a:t>
            </a:r>
            <a:endParaRPr lang="en-US" sz="732" dirty="0"/>
          </a:p>
        </p:txBody>
      </p:sp>
      <p:sp>
        <p:nvSpPr>
          <p:cNvPr id="31" name="Text 28"/>
          <p:cNvSpPr/>
          <p:nvPr/>
        </p:nvSpPr>
        <p:spPr>
          <a:xfrm>
            <a:off x="5443956" y="1557338"/>
            <a:ext cx="8243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 </a:t>
            </a:r>
            <a:endParaRPr lang="en-US" sz="732" dirty="0"/>
          </a:p>
        </p:txBody>
      </p:sp>
      <p:sp>
        <p:nvSpPr>
          <p:cNvPr id="32" name="Text 29"/>
          <p:cNvSpPr/>
          <p:nvPr/>
        </p:nvSpPr>
        <p:spPr>
          <a:xfrm>
            <a:off x="3557588" y="1707356"/>
            <a:ext cx="162472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tempo de revisão. Aloque recursos </a:t>
            </a:r>
            <a:endParaRPr lang="en-US" sz="732" dirty="0"/>
          </a:p>
        </p:txBody>
      </p:sp>
      <p:sp>
        <p:nvSpPr>
          <p:cNvPr id="33" name="Text 30"/>
          <p:cNvSpPr/>
          <p:nvPr/>
        </p:nvSpPr>
        <p:spPr>
          <a:xfrm>
            <a:off x="3557588" y="1857375"/>
            <a:ext cx="55018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adequados. </a:t>
            </a:r>
            <a:endParaRPr lang="en-US" sz="732" dirty="0"/>
          </a:p>
        </p:txBody>
      </p:sp>
      <p:sp>
        <p:nvSpPr>
          <p:cNvPr id="34" name="Shape 31"/>
          <p:cNvSpPr/>
          <p:nvPr/>
        </p:nvSpPr>
        <p:spPr>
          <a:xfrm>
            <a:off x="3429000" y="2164556"/>
            <a:ext cx="42863" cy="42863"/>
          </a:xfrm>
          <a:prstGeom prst="ellipse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2"/>
          <p:cNvSpPr/>
          <p:nvPr/>
        </p:nvSpPr>
        <p:spPr>
          <a:xfrm>
            <a:off x="3557588" y="2114550"/>
            <a:ext cx="17057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Muitos comentários podem indicar</a:t>
            </a:r>
            <a:endParaRPr lang="en-US" sz="732" dirty="0"/>
          </a:p>
        </p:txBody>
      </p:sp>
      <p:sp>
        <p:nvSpPr>
          <p:cNvPr id="36" name="Text 33"/>
          <p:cNvSpPr/>
          <p:nvPr/>
        </p:nvSpPr>
        <p:spPr>
          <a:xfrm>
            <a:off x="3557588" y="2264569"/>
            <a:ext cx="20045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problemas fundamentais no PR. Considere </a:t>
            </a:r>
            <a:endParaRPr lang="en-US" sz="732" dirty="0"/>
          </a:p>
        </p:txBody>
      </p:sp>
      <p:sp>
        <p:nvSpPr>
          <p:cNvPr id="37" name="Text 34"/>
          <p:cNvSpPr/>
          <p:nvPr/>
        </p:nvSpPr>
        <p:spPr>
          <a:xfrm>
            <a:off x="3557588" y="2414588"/>
            <a:ext cx="96303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solicitar refatoração. </a:t>
            </a:r>
            <a:endParaRPr lang="en-US" sz="732" dirty="0"/>
          </a:p>
        </p:txBody>
      </p:sp>
      <p:sp>
        <p:nvSpPr>
          <p:cNvPr id="38" name="Shape 35"/>
          <p:cNvSpPr/>
          <p:nvPr/>
        </p:nvSpPr>
        <p:spPr>
          <a:xfrm>
            <a:off x="3429000" y="2721769"/>
            <a:ext cx="42863" cy="42863"/>
          </a:xfrm>
          <a:prstGeom prst="ellipse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6"/>
          <p:cNvSpPr/>
          <p:nvPr/>
        </p:nvSpPr>
        <p:spPr>
          <a:xfrm>
            <a:off x="3557588" y="2671763"/>
            <a:ext cx="146460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Velocidade de revisão é crítica</a:t>
            </a:r>
            <a:endParaRPr lang="en-US" sz="732" dirty="0"/>
          </a:p>
        </p:txBody>
      </p:sp>
      <p:sp>
        <p:nvSpPr>
          <p:cNvPr id="40" name="Text 37"/>
          <p:cNvSpPr/>
          <p:nvPr/>
        </p:nvSpPr>
        <p:spPr>
          <a:xfrm>
            <a:off x="5022196" y="2671763"/>
            <a:ext cx="2390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para </a:t>
            </a:r>
            <a:endParaRPr lang="en-US" sz="732" dirty="0"/>
          </a:p>
        </p:txBody>
      </p:sp>
      <p:sp>
        <p:nvSpPr>
          <p:cNvPr id="41" name="Text 38"/>
          <p:cNvSpPr/>
          <p:nvPr/>
        </p:nvSpPr>
        <p:spPr>
          <a:xfrm>
            <a:off x="3557588" y="2821781"/>
            <a:ext cx="20953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aceitação. Priorize feedback rápido e focado. </a:t>
            </a:r>
            <a:endParaRPr lang="en-US" sz="732" dirty="0"/>
          </a:p>
        </p:txBody>
      </p:sp>
      <p:sp>
        <p:nvSpPr>
          <p:cNvPr id="42" name="Shape 39"/>
          <p:cNvSpPr/>
          <p:nvPr/>
        </p:nvSpPr>
        <p:spPr>
          <a:xfrm>
            <a:off x="6072188" y="955477"/>
            <a:ext cx="2643188" cy="3759398"/>
          </a:xfrm>
          <a:prstGeom prst="rect">
            <a:avLst/>
          </a:prstGeom>
          <a:solidFill>
            <a:srgbClr val="161B22"/>
          </a:solidFill>
          <a:ln w="496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0"/>
          <p:cNvSpPr/>
          <p:nvPr/>
        </p:nvSpPr>
        <p:spPr>
          <a:xfrm>
            <a:off x="6250781" y="1134070"/>
            <a:ext cx="25003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📊</a:t>
            </a:r>
            <a:endParaRPr lang="en-US" sz="1575" dirty="0"/>
          </a:p>
        </p:txBody>
      </p:sp>
      <p:sp>
        <p:nvSpPr>
          <p:cNvPr id="44" name="Text 41"/>
          <p:cNvSpPr/>
          <p:nvPr/>
        </p:nvSpPr>
        <p:spPr>
          <a:xfrm>
            <a:off x="6586538" y="1183184"/>
            <a:ext cx="5538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Gestores</a:t>
            </a:r>
            <a:endParaRPr lang="en-US" sz="942" dirty="0"/>
          </a:p>
        </p:txBody>
      </p:sp>
      <p:sp>
        <p:nvSpPr>
          <p:cNvPr id="45" name="Shape 42"/>
          <p:cNvSpPr/>
          <p:nvPr/>
        </p:nvSpPr>
        <p:spPr>
          <a:xfrm>
            <a:off x="6250781" y="1607344"/>
            <a:ext cx="42863" cy="42863"/>
          </a:xfrm>
          <a:prstGeom prst="ellipse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Text 43"/>
          <p:cNvSpPr/>
          <p:nvPr/>
        </p:nvSpPr>
        <p:spPr>
          <a:xfrm>
            <a:off x="6379369" y="1557338"/>
            <a:ext cx="92662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Otimize o processo</a:t>
            </a:r>
            <a:endParaRPr lang="en-US" sz="732" dirty="0"/>
          </a:p>
        </p:txBody>
      </p:sp>
      <p:sp>
        <p:nvSpPr>
          <p:cNvPr id="47" name="Text 44"/>
          <p:cNvSpPr/>
          <p:nvPr/>
        </p:nvSpPr>
        <p:spPr>
          <a:xfrm>
            <a:off x="7305991" y="1557338"/>
            <a:ext cx="10705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para decisões rápidas. </a:t>
            </a:r>
            <a:endParaRPr lang="en-US" sz="732" dirty="0"/>
          </a:p>
        </p:txBody>
      </p:sp>
      <p:sp>
        <p:nvSpPr>
          <p:cNvPr id="48" name="Text 45"/>
          <p:cNvSpPr/>
          <p:nvPr/>
        </p:nvSpPr>
        <p:spPr>
          <a:xfrm>
            <a:off x="6379369" y="1707356"/>
            <a:ext cx="127666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Estabeleça SLAs de revisão. </a:t>
            </a:r>
            <a:endParaRPr lang="en-US" sz="732" dirty="0"/>
          </a:p>
        </p:txBody>
      </p:sp>
      <p:sp>
        <p:nvSpPr>
          <p:cNvPr id="49" name="Shape 46"/>
          <p:cNvSpPr/>
          <p:nvPr/>
        </p:nvSpPr>
        <p:spPr>
          <a:xfrm>
            <a:off x="6250781" y="2014538"/>
            <a:ext cx="42863" cy="42863"/>
          </a:xfrm>
          <a:prstGeom prst="ellipse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7"/>
          <p:cNvSpPr/>
          <p:nvPr/>
        </p:nvSpPr>
        <p:spPr>
          <a:xfrm>
            <a:off x="6379369" y="1964531"/>
            <a:ext cx="149410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Estabeleça limites de tamanho</a:t>
            </a:r>
            <a:endParaRPr lang="en-US" sz="732" dirty="0"/>
          </a:p>
        </p:txBody>
      </p:sp>
      <p:sp>
        <p:nvSpPr>
          <p:cNvPr id="51" name="Text 48"/>
          <p:cNvSpPr/>
          <p:nvPr/>
        </p:nvSpPr>
        <p:spPr>
          <a:xfrm>
            <a:off x="7873473" y="1964531"/>
            <a:ext cx="4624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para PRs. </a:t>
            </a:r>
            <a:endParaRPr lang="en-US" sz="732" dirty="0"/>
          </a:p>
        </p:txBody>
      </p:sp>
      <p:sp>
        <p:nvSpPr>
          <p:cNvPr id="52" name="Text 49"/>
          <p:cNvSpPr/>
          <p:nvPr/>
        </p:nvSpPr>
        <p:spPr>
          <a:xfrm>
            <a:off x="6379369" y="2114550"/>
            <a:ext cx="160561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Incentive mudanças incrementais. </a:t>
            </a:r>
            <a:endParaRPr lang="en-US" sz="732" dirty="0"/>
          </a:p>
        </p:txBody>
      </p:sp>
      <p:sp>
        <p:nvSpPr>
          <p:cNvPr id="53" name="Shape 50"/>
          <p:cNvSpPr/>
          <p:nvPr/>
        </p:nvSpPr>
        <p:spPr>
          <a:xfrm>
            <a:off x="6250781" y="2421731"/>
            <a:ext cx="42863" cy="42863"/>
          </a:xfrm>
          <a:prstGeom prst="ellipse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Text 51"/>
          <p:cNvSpPr/>
          <p:nvPr/>
        </p:nvSpPr>
        <p:spPr>
          <a:xfrm>
            <a:off x="6379369" y="2371725"/>
            <a:ext cx="166382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Promova cultura de revisões ágeis</a:t>
            </a:r>
            <a:endParaRPr lang="en-US" sz="732" dirty="0"/>
          </a:p>
        </p:txBody>
      </p:sp>
      <p:sp>
        <p:nvSpPr>
          <p:cNvPr id="55" name="Text 52"/>
          <p:cNvSpPr/>
          <p:nvPr/>
        </p:nvSpPr>
        <p:spPr>
          <a:xfrm>
            <a:off x="8043193" y="2371725"/>
            <a:ext cx="8243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 </a:t>
            </a:r>
            <a:endParaRPr lang="en-US" sz="732" dirty="0"/>
          </a:p>
        </p:txBody>
      </p:sp>
      <p:sp>
        <p:nvSpPr>
          <p:cNvPr id="56" name="Text 53"/>
          <p:cNvSpPr/>
          <p:nvPr/>
        </p:nvSpPr>
        <p:spPr>
          <a:xfrm>
            <a:off x="6379369" y="2521744"/>
            <a:ext cx="186273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focadas. Treine equipes em code review </a:t>
            </a:r>
            <a:endParaRPr lang="en-US" sz="732" dirty="0"/>
          </a:p>
        </p:txBody>
      </p:sp>
      <p:sp>
        <p:nvSpPr>
          <p:cNvPr id="57" name="Text 54"/>
          <p:cNvSpPr/>
          <p:nvPr/>
        </p:nvSpPr>
        <p:spPr>
          <a:xfrm>
            <a:off x="6379369" y="2671763"/>
            <a:ext cx="42795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eficiente. </a:t>
            </a:r>
            <a:endParaRPr lang="en-US" sz="73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01" y="-15488"/>
            <a:ext cx="9242597" cy="51589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383425"/>
            <a:ext cx="42863" cy="285750"/>
          </a:xfrm>
          <a:prstGeom prst="round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578644" y="383084"/>
            <a:ext cx="439600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Conclusão: Velocidade é Determinante</a:t>
            </a:r>
            <a:endParaRPr lang="en-US" sz="1800" dirty="0"/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798B240E-5BBC-5EC6-3910-9D3225B42149}"/>
              </a:ext>
            </a:extLst>
          </p:cNvPr>
          <p:cNvGrpSpPr/>
          <p:nvPr/>
        </p:nvGrpSpPr>
        <p:grpSpPr>
          <a:xfrm>
            <a:off x="219919" y="813494"/>
            <a:ext cx="8735646" cy="1616273"/>
            <a:chOff x="432013" y="814867"/>
            <a:chExt cx="8463892" cy="1796625"/>
          </a:xfrm>
        </p:grpSpPr>
        <p:sp>
          <p:nvSpPr>
            <p:cNvPr id="5" name="Shape 2"/>
            <p:cNvSpPr/>
            <p:nvPr/>
          </p:nvSpPr>
          <p:spPr>
            <a:xfrm>
              <a:off x="432013" y="814867"/>
              <a:ext cx="8463892" cy="1796625"/>
            </a:xfrm>
            <a:prstGeom prst="rect">
              <a:avLst/>
            </a:prstGeom>
            <a:solidFill>
              <a:srgbClr val="0D1117"/>
            </a:solidFill>
            <a:ln w="198">
              <a:solidFill>
                <a:srgbClr val="238636"/>
              </a:solidFill>
              <a:prstDash val="solid"/>
            </a:ln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4091973" y="1251600"/>
              <a:ext cx="960025" cy="1046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680" b="1" dirty="0">
                  <a:solidFill>
                    <a:srgbClr val="8B949E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Achado Principal</a:t>
              </a:r>
              <a:endParaRPr lang="en-US" sz="68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968090" y="1277368"/>
              <a:ext cx="190035" cy="4847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0883E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 A </a:t>
              </a:r>
              <a:endParaRPr lang="en-US" sz="1575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1231737" y="1381243"/>
              <a:ext cx="1226214" cy="2769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238636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velocidade</a:t>
              </a:r>
              <a:endParaRPr lang="en-US" sz="18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2384338" y="1295437"/>
              <a:ext cx="5791544" cy="4847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0883E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 do processo de review é o fator mais determinante para a </a:t>
              </a:r>
              <a:endParaRPr lang="en-US" sz="1575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3247030" y="1806400"/>
              <a:ext cx="2649941" cy="2423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1575" b="1" dirty="0">
                  <a:solidFill>
                    <a:srgbClr val="F0883E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aceitação de Pull Requests </a:t>
              </a:r>
              <a:endParaRPr lang="en-US" sz="1575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3199395" y="2295679"/>
              <a:ext cx="894643" cy="1288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837" dirty="0">
                  <a:solidFill>
                    <a:srgbClr val="C9D1D9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 PRs merged são </a:t>
              </a:r>
              <a:endParaRPr lang="en-US" sz="837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4094038" y="2294786"/>
              <a:ext cx="1017984" cy="1288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837" b="1" dirty="0">
                  <a:solidFill>
                    <a:srgbClr val="F0883E"/>
                  </a:solidFill>
                  <a:latin typeface="Roboto Mono" pitchFamily="34" charset="0"/>
                  <a:ea typeface="Roboto Mono" pitchFamily="34" charset="-122"/>
                  <a:cs typeface="Roboto Mono" pitchFamily="34" charset="-120"/>
                </a:rPr>
                <a:t>7x mais rápidos</a:t>
              </a:r>
              <a:endParaRPr lang="en-US" sz="837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5112023" y="2295679"/>
              <a:ext cx="832582" cy="1288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837" dirty="0">
                  <a:solidFill>
                    <a:srgbClr val="C9D1D9"/>
                  </a:solidFill>
                  <a:latin typeface="Noto Sans" pitchFamily="34" charset="0"/>
                  <a:ea typeface="Noto Sans" pitchFamily="34" charset="-122"/>
                  <a:cs typeface="Noto Sans" pitchFamily="34" charset="-120"/>
                </a:rPr>
                <a:t> que PRs closed </a:t>
              </a:r>
              <a:endParaRPr lang="en-US" sz="837" dirty="0"/>
            </a:p>
          </p:txBody>
        </p:sp>
      </p:grpSp>
      <p:sp>
        <p:nvSpPr>
          <p:cNvPr id="14" name="Shape 11"/>
          <p:cNvSpPr/>
          <p:nvPr/>
        </p:nvSpPr>
        <p:spPr>
          <a:xfrm>
            <a:off x="464344" y="2589886"/>
            <a:ext cx="4071938" cy="1219795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464344" y="2589886"/>
            <a:ext cx="35719" cy="1219795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07219" y="2732761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⚡</a:t>
            </a:r>
            <a:endParaRPr lang="en-US" sz="1046" dirty="0"/>
          </a:p>
        </p:txBody>
      </p:sp>
      <p:sp>
        <p:nvSpPr>
          <p:cNvPr id="17" name="Text 14"/>
          <p:cNvSpPr/>
          <p:nvPr/>
        </p:nvSpPr>
        <p:spPr>
          <a:xfrm>
            <a:off x="607219" y="3013153"/>
            <a:ext cx="37861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Velocidade Crítica</a:t>
            </a:r>
            <a:endParaRPr lang="en-US" sz="785" dirty="0"/>
          </a:p>
        </p:txBody>
      </p:sp>
      <p:sp>
        <p:nvSpPr>
          <p:cNvPr id="18" name="Text 15"/>
          <p:cNvSpPr/>
          <p:nvPr/>
        </p:nvSpPr>
        <p:spPr>
          <a:xfrm>
            <a:off x="607219" y="3252469"/>
            <a:ext cx="174594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correlação negativa mais forte (RQ02: </a:t>
            </a:r>
            <a:endParaRPr lang="en-US" sz="680" dirty="0"/>
          </a:p>
        </p:txBody>
      </p:sp>
      <p:sp>
        <p:nvSpPr>
          <p:cNvPr id="19" name="Text 16"/>
          <p:cNvSpPr/>
          <p:nvPr/>
        </p:nvSpPr>
        <p:spPr>
          <a:xfrm>
            <a:off x="2353168" y="3254255"/>
            <a:ext cx="33218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F088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-0.240</a:t>
            </a:r>
            <a:endParaRPr lang="en-US" sz="680" dirty="0"/>
          </a:p>
        </p:txBody>
      </p:sp>
      <p:sp>
        <p:nvSpPr>
          <p:cNvPr id="20" name="Text 17"/>
          <p:cNvSpPr/>
          <p:nvPr/>
        </p:nvSpPr>
        <p:spPr>
          <a:xfrm>
            <a:off x="2685353" y="3252469"/>
            <a:ext cx="147811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 confirma que PRs merged em 32 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607219" y="3391772"/>
            <a:ext cx="264427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horas têm muito mais sucesso que PRs closed em 224 horas. </a:t>
            </a:r>
            <a:endParaRPr lang="en-US" sz="680" dirty="0"/>
          </a:p>
        </p:txBody>
      </p:sp>
      <p:sp>
        <p:nvSpPr>
          <p:cNvPr id="22" name="Shape 19"/>
          <p:cNvSpPr/>
          <p:nvPr/>
        </p:nvSpPr>
        <p:spPr>
          <a:xfrm>
            <a:off x="4679157" y="2589886"/>
            <a:ext cx="4071938" cy="1219795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4679157" y="2589886"/>
            <a:ext cx="35719" cy="1219795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4822032" y="2732761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🔄</a:t>
            </a:r>
            <a:endParaRPr lang="en-US" sz="1046" dirty="0"/>
          </a:p>
        </p:txBody>
      </p:sp>
      <p:sp>
        <p:nvSpPr>
          <p:cNvPr id="25" name="Text 22"/>
          <p:cNvSpPr/>
          <p:nvPr/>
        </p:nvSpPr>
        <p:spPr>
          <a:xfrm>
            <a:off x="4822032" y="3013153"/>
            <a:ext cx="37861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23863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Interações: Faca de Dois Gumes</a:t>
            </a:r>
            <a:endParaRPr lang="en-US" sz="785" dirty="0"/>
          </a:p>
        </p:txBody>
      </p:sp>
      <p:sp>
        <p:nvSpPr>
          <p:cNvPr id="26" name="Text 23"/>
          <p:cNvSpPr/>
          <p:nvPr/>
        </p:nvSpPr>
        <p:spPr>
          <a:xfrm>
            <a:off x="4822032" y="3252469"/>
            <a:ext cx="258324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Muitas interações correlacionam com mais revisões (RQ08: </a:t>
            </a:r>
            <a:endParaRPr lang="en-US" sz="680" dirty="0"/>
          </a:p>
        </p:txBody>
      </p:sp>
      <p:sp>
        <p:nvSpPr>
          <p:cNvPr id="27" name="Text 24"/>
          <p:cNvSpPr/>
          <p:nvPr/>
        </p:nvSpPr>
        <p:spPr>
          <a:xfrm>
            <a:off x="7405278" y="3254255"/>
            <a:ext cx="33218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F088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+0.491</a:t>
            </a:r>
            <a:endParaRPr lang="en-US" sz="680" dirty="0"/>
          </a:p>
        </p:txBody>
      </p:sp>
      <p:sp>
        <p:nvSpPr>
          <p:cNvPr id="28" name="Text 25"/>
          <p:cNvSpPr/>
          <p:nvPr/>
        </p:nvSpPr>
        <p:spPr>
          <a:xfrm>
            <a:off x="7737463" y="3252469"/>
            <a:ext cx="75224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 e menor chance 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4822032" y="3393558"/>
            <a:ext cx="88272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 aceitação (RQ04: </a:t>
            </a:r>
            <a:endParaRPr lang="en-US" sz="680" dirty="0"/>
          </a:p>
        </p:txBody>
      </p:sp>
      <p:sp>
        <p:nvSpPr>
          <p:cNvPr id="30" name="Text 27"/>
          <p:cNvSpPr/>
          <p:nvPr/>
        </p:nvSpPr>
        <p:spPr>
          <a:xfrm>
            <a:off x="5704759" y="3395344"/>
            <a:ext cx="33218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F088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-0.183</a:t>
            </a:r>
            <a:endParaRPr lang="en-US" sz="680" dirty="0"/>
          </a:p>
        </p:txBody>
      </p:sp>
      <p:sp>
        <p:nvSpPr>
          <p:cNvPr id="31" name="Text 28"/>
          <p:cNvSpPr/>
          <p:nvPr/>
        </p:nvSpPr>
        <p:spPr>
          <a:xfrm>
            <a:off x="6036943" y="3393558"/>
            <a:ext cx="222237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). Necessárias para complexidade, prejudiciais para </a:t>
            </a:r>
            <a:endParaRPr lang="en-US" sz="680" dirty="0"/>
          </a:p>
        </p:txBody>
      </p:sp>
      <p:sp>
        <p:nvSpPr>
          <p:cNvPr id="32" name="Text 29"/>
          <p:cNvSpPr/>
          <p:nvPr/>
        </p:nvSpPr>
        <p:spPr>
          <a:xfrm>
            <a:off x="4822032" y="3532861"/>
            <a:ext cx="42469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agilidade. </a:t>
            </a:r>
            <a:endParaRPr lang="en-US" sz="680" dirty="0"/>
          </a:p>
        </p:txBody>
      </p:sp>
      <p:sp>
        <p:nvSpPr>
          <p:cNvPr id="33" name="Shape 30"/>
          <p:cNvSpPr/>
          <p:nvPr/>
        </p:nvSpPr>
        <p:spPr>
          <a:xfrm>
            <a:off x="464344" y="3952557"/>
            <a:ext cx="4071938" cy="1089422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Shape 31"/>
          <p:cNvSpPr/>
          <p:nvPr/>
        </p:nvSpPr>
        <p:spPr>
          <a:xfrm>
            <a:off x="464344" y="3952557"/>
            <a:ext cx="35719" cy="1089422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2"/>
          <p:cNvSpPr/>
          <p:nvPr/>
        </p:nvSpPr>
        <p:spPr>
          <a:xfrm>
            <a:off x="607219" y="4095432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📝</a:t>
            </a:r>
            <a:endParaRPr lang="en-US" sz="1046" dirty="0"/>
          </a:p>
        </p:txBody>
      </p:sp>
      <p:sp>
        <p:nvSpPr>
          <p:cNvPr id="36" name="Text 33"/>
          <p:cNvSpPr/>
          <p:nvPr/>
        </p:nvSpPr>
        <p:spPr>
          <a:xfrm>
            <a:off x="607219" y="4375824"/>
            <a:ext cx="37861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F088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Simplicidade Valorizada</a:t>
            </a:r>
            <a:endParaRPr lang="en-US" sz="785" dirty="0"/>
          </a:p>
        </p:txBody>
      </p:sp>
      <p:sp>
        <p:nvSpPr>
          <p:cNvPr id="37" name="Text 34"/>
          <p:cNvSpPr/>
          <p:nvPr/>
        </p:nvSpPr>
        <p:spPr>
          <a:xfrm>
            <a:off x="607219" y="4615139"/>
            <a:ext cx="171650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PRs com descrições mais curtas (RQ03: </a:t>
            </a:r>
            <a:endParaRPr lang="en-US" sz="680" dirty="0"/>
          </a:p>
        </p:txBody>
      </p:sp>
      <p:sp>
        <p:nvSpPr>
          <p:cNvPr id="38" name="Text 35"/>
          <p:cNvSpPr/>
          <p:nvPr/>
        </p:nvSpPr>
        <p:spPr>
          <a:xfrm>
            <a:off x="2323728" y="4616925"/>
            <a:ext cx="33218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F088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-0.068</a:t>
            </a:r>
            <a:endParaRPr lang="en-US" sz="680" dirty="0"/>
          </a:p>
        </p:txBody>
      </p:sp>
      <p:sp>
        <p:nvSpPr>
          <p:cNvPr id="39" name="Text 36"/>
          <p:cNvSpPr/>
          <p:nvPr/>
        </p:nvSpPr>
        <p:spPr>
          <a:xfrm>
            <a:off x="2655913" y="4615139"/>
            <a:ext cx="154162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 e menos interações tiveram maior </a:t>
            </a:r>
            <a:endParaRPr lang="en-US" sz="680" dirty="0"/>
          </a:p>
        </p:txBody>
      </p:sp>
      <p:sp>
        <p:nvSpPr>
          <p:cNvPr id="40" name="Text 37"/>
          <p:cNvSpPr/>
          <p:nvPr/>
        </p:nvSpPr>
        <p:spPr>
          <a:xfrm>
            <a:off x="607219" y="4754443"/>
            <a:ext cx="35011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taxa de sucesso, sugerindo que foco e clareza superam detalhamento excessivo. </a:t>
            </a:r>
            <a:endParaRPr lang="en-US" sz="680" dirty="0"/>
          </a:p>
        </p:txBody>
      </p:sp>
      <p:sp>
        <p:nvSpPr>
          <p:cNvPr id="41" name="Shape 38"/>
          <p:cNvSpPr/>
          <p:nvPr/>
        </p:nvSpPr>
        <p:spPr>
          <a:xfrm>
            <a:off x="4679157" y="3952557"/>
            <a:ext cx="4071938" cy="1089422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Shape 39"/>
          <p:cNvSpPr/>
          <p:nvPr/>
        </p:nvSpPr>
        <p:spPr>
          <a:xfrm>
            <a:off x="4679157" y="3952557"/>
            <a:ext cx="35719" cy="1089422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0"/>
          <p:cNvSpPr/>
          <p:nvPr/>
        </p:nvSpPr>
        <p:spPr>
          <a:xfrm>
            <a:off x="4822032" y="4095432"/>
            <a:ext cx="37861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</a:t>
            </a:r>
            <a:endParaRPr lang="en-US" sz="1046" dirty="0"/>
          </a:p>
        </p:txBody>
      </p:sp>
      <p:sp>
        <p:nvSpPr>
          <p:cNvPr id="44" name="Text 41"/>
          <p:cNvSpPr/>
          <p:nvPr/>
        </p:nvSpPr>
        <p:spPr>
          <a:xfrm>
            <a:off x="4822032" y="4388325"/>
            <a:ext cx="37861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1F6F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Robustez Metodológica</a:t>
            </a:r>
            <a:endParaRPr lang="en-US" sz="785" dirty="0"/>
          </a:p>
        </p:txBody>
      </p:sp>
      <p:sp>
        <p:nvSpPr>
          <p:cNvPr id="45" name="Text 42"/>
          <p:cNvSpPr/>
          <p:nvPr/>
        </p:nvSpPr>
        <p:spPr>
          <a:xfrm>
            <a:off x="4822032" y="4620497"/>
            <a:ext cx="378618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C9D1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consistência entre testes de Shapiro-Wilk e análise visual dos Q-Q plots reforça a validade estatística das correlações de Spearman reportadas. 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1463</Words>
  <Application>Microsoft Office PowerPoint</Application>
  <PresentationFormat>Apresentação na tela (16:9)</PresentationFormat>
  <Paragraphs>344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Noto Sans</vt:lpstr>
      <vt:lpstr>Roboto Mono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Vitor Fernandes de Souza</cp:lastModifiedBy>
  <cp:revision>3</cp:revision>
  <dcterms:created xsi:type="dcterms:W3CDTF">2025-10-21T16:31:45Z</dcterms:created>
  <dcterms:modified xsi:type="dcterms:W3CDTF">2025-10-21T18:07:46Z</dcterms:modified>
</cp:coreProperties>
</file>